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9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0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5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6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7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8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Agentic AI Orchestration Security</c:v>
                  </c:pt>
                  <c:pt idx="1">
                    <c:v>Endpoint &amp; Device Security</c:v>
                  </c:pt>
                  <c:pt idx="2">
                    <c:v>Cloud &amp; Container Security</c:v>
                  </c:pt>
                  <c:pt idx="3">
                    <c:v>Network &amp; Traffic Security</c:v>
                  </c:pt>
                  <c:pt idx="4">
                    <c:v>Malware &amp; Ransomware Defense</c:v>
                  </c:pt>
                  <c:pt idx="5">
                    <c:v>Vulnerability Mgmt &amp; Remediation</c:v>
                  </c:pt>
                  <c:pt idx="6">
                    <c:v>Identity &amp; Access Mgmt</c:v>
                  </c:pt>
                  <c:pt idx="7">
                    <c:v>SecOps Automation &amp; IR</c:v>
                  </c:pt>
                  <c:pt idx="8">
                    <c:v>LLM &amp; GenAI Security</c:v>
                  </c:pt>
                  <c:pt idx="9">
                    <c:v>AI Threat &amp; Anomaly Detection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</c:v>
                </c:pt>
                <c:pt idx="1">
                  <c:v>45</c:v>
                </c:pt>
                <c:pt idx="2">
                  <c:v>47</c:v>
                </c:pt>
                <c:pt idx="3">
                  <c:v>51</c:v>
                </c:pt>
                <c:pt idx="4">
                  <c:v>57</c:v>
                </c:pt>
                <c:pt idx="5">
                  <c:v>62</c:v>
                </c:pt>
                <c:pt idx="6">
                  <c:v>72</c:v>
                </c:pt>
                <c:pt idx="7">
                  <c:v>73</c:v>
                </c:pt>
                <c:pt idx="8">
                  <c:v>74</c:v>
                </c:pt>
                <c:pt idx="9">
                  <c:v>118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2E4A9E"/>
              </a:solidFill>
              <a:effectLst/>
            </c:spPr>
          </c:dPt>
          <c:dPt>
            <c:idx val="2"/>
            <c:bubble3D val="0"/>
            <c:spPr>
              <a:solidFill>
                <a:srgbClr val="3E6FD0"/>
              </a:solidFill>
              <a:effectLst/>
            </c:spPr>
          </c:dPt>
          <c:dPt>
            <c:idx val="3"/>
            <c:bubble3D val="0"/>
            <c:spPr>
              <a:solidFill>
                <a:srgbClr val="2EC4B6"/>
              </a:solidFill>
              <a:effectLst/>
            </c:spPr>
          </c:dPt>
          <c:dPt>
            <c:idx val="4"/>
            <c:bubble3D val="0"/>
            <c:spPr>
              <a:solidFill>
                <a:srgbClr val="64D8CB"/>
              </a:solidFill>
              <a:effectLst/>
            </c:spPr>
          </c:dPt>
          <c:dPt>
            <c:idx val="5"/>
            <c:bubble3D val="0"/>
            <c:spPr>
              <a:solidFill>
                <a:srgbClr val="8FB3E8"/>
              </a:solidFill>
              <a:effectLst/>
            </c:spPr>
          </c:dPt>
          <c:dPt>
            <c:idx val="6"/>
            <c:bubble3D val="0"/>
            <c:spPr>
              <a:solidFill>
                <a:srgbClr val="F4A259"/>
              </a:solidFill>
              <a:effectLst/>
            </c:spPr>
          </c:dPt>
          <c:dPt>
            <c:idx val="7"/>
            <c:bubble3D val="0"/>
            <c:spPr>
              <a:solidFill>
                <a:srgbClr val="E76F51"/>
              </a:solidFill>
              <a:effectLst/>
            </c:spPr>
          </c:dPt>
          <c:dPt>
            <c:idx val="8"/>
            <c:bubble3D val="0"/>
            <c:spPr>
              <a:solidFill>
                <a:srgbClr val="9B5DE5"/>
              </a:solidFill>
              <a:effectLst/>
            </c:spPr>
          </c:dPt>
          <c:dPt>
            <c:idx val="9"/>
            <c:bubble3D val="0"/>
            <c:spPr>
              <a:solidFill>
                <a:srgbClr val="6C757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AI Threat &amp; Anomaly Detection</c:v>
                </c:pt>
                <c:pt idx="1">
                  <c:v>LLM &amp; GenAI Security</c:v>
                </c:pt>
                <c:pt idx="2">
                  <c:v>SecOps Automation &amp; IR</c:v>
                </c:pt>
                <c:pt idx="3">
                  <c:v>Identity &amp; Access Mgmt</c:v>
                </c:pt>
                <c:pt idx="4">
                  <c:v>Vulnerability Mgmt &amp; Remediation</c:v>
                </c:pt>
                <c:pt idx="5">
                  <c:v>Malware &amp; Ransomware Defense</c:v>
                </c:pt>
                <c:pt idx="6">
                  <c:v>Network &amp; Traffic Security</c:v>
                </c:pt>
                <c:pt idx="7">
                  <c:v>Cloud &amp; Container Security</c:v>
                </c:pt>
                <c:pt idx="8">
                  <c:v>Endpoint &amp; Device Security</c:v>
                </c:pt>
                <c:pt idx="9">
                  <c:v>Agentic AI Orchestration Security</c:v>
                </c:pt>
              </c:strCache>
            </c:strRef>
          </c:cat>
          <c:val>
            <c:numRef>
              <c:f>Sheet1!$B$2:$B$11</c:f>
              <c:numCache>
                <c:ptCount val="10"/>
                <c:pt idx="0">
                  <c:v>118</c:v>
                </c:pt>
                <c:pt idx="1">
                  <c:v>74</c:v>
                </c:pt>
                <c:pt idx="2">
                  <c:v>73</c:v>
                </c:pt>
                <c:pt idx="3">
                  <c:v>72</c:v>
                </c:pt>
                <c:pt idx="4">
                  <c:v>62</c:v>
                </c:pt>
                <c:pt idx="5">
                  <c:v>57</c:v>
                </c:pt>
                <c:pt idx="6">
                  <c:v>51</c:v>
                </c:pt>
                <c:pt idx="7">
                  <c:v>47</c:v>
                </c:pt>
                <c:pt idx="8">
                  <c:v>45</c:v>
                </c:pt>
                <c:pt idx="9">
                  <c:v>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5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  <c:pt idx="6">
                    <c:v>Samsung</c:v>
                  </c:pt>
                  <c:pt idx="7">
                    <c:v>CyberArk</c:v>
                  </c:pt>
                  <c:pt idx="8">
                    <c:v>Citrix</c:v>
                  </c:pt>
                  <c:pt idx="9">
                    <c:v>IBM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154</c:v>
                </c:pt>
                <c:pt idx="1">
                  <c:v>133</c:v>
                </c:pt>
                <c:pt idx="2">
                  <c:v>102</c:v>
                </c:pt>
                <c:pt idx="3">
                  <c:v>50</c:v>
                </c:pt>
                <c:pt idx="4">
                  <c:v>38</c:v>
                </c:pt>
                <c:pt idx="5">
                  <c:v>31</c:v>
                </c:pt>
                <c:pt idx="6">
                  <c:v>25</c:v>
                </c:pt>
                <c:pt idx="7">
                  <c:v>19</c:v>
                </c:pt>
                <c:pt idx="8">
                  <c:v>17</c:v>
                </c:pt>
                <c:pt idx="9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200000"/>
          <a:lstStyle/>
          <a:p>
            <a:pPr>
              <a:defRPr sz="95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Threat &amp; Anomaly Detection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32</c:v>
                </c:pt>
                <c:pt idx="2">
                  <c:v>4</c:v>
                </c:pt>
                <c:pt idx="3">
                  <c:v>7</c:v>
                </c:pt>
                <c:pt idx="4">
                  <c:v>5</c:v>
                </c:pt>
                <c:pt idx="5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LLM &amp; GenAI Security</c:v>
                </c:pt>
              </c:strCache>
            </c:strRef>
          </c:tx>
          <c:spPr>
            <a:solidFill>
              <a:srgbClr val="2E4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</c:v>
                </c:pt>
                <c:pt idx="1">
                  <c:v>14</c:v>
                </c:pt>
                <c:pt idx="2">
                  <c:v>20</c:v>
                </c:pt>
                <c:pt idx="3">
                  <c:v>10</c:v>
                </c:pt>
                <c:pt idx="4">
                  <c:v>0</c:v>
                </c:pt>
                <c:pt idx="5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SecOps Automation &amp; IR</c:v>
                </c:pt>
              </c:strCache>
            </c:strRef>
          </c:tx>
          <c:spPr>
            <a:solidFill>
              <a:srgbClr val="3E6F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31</c:v>
                </c:pt>
                <c:pt idx="1">
                  <c:v>25</c:v>
                </c:pt>
                <c:pt idx="2">
                  <c:v>5</c:v>
                </c:pt>
                <c:pt idx="3">
                  <c:v>2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&amp; Access Mgmt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19</c:v>
                </c:pt>
                <c:pt idx="1">
                  <c:v>10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Vulnerability Mgmt &amp; Remediation</c:v>
                </c:pt>
              </c:strCache>
            </c:strRef>
          </c:tx>
          <c:spPr>
            <a:solidFill>
              <a:srgbClr val="64D8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12</c:v>
                </c:pt>
                <c:pt idx="1">
                  <c:v>17</c:v>
                </c:pt>
                <c:pt idx="2">
                  <c:v>16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&amp; Ransomware Defense</c:v>
                </c:pt>
              </c:strCache>
            </c:strRef>
          </c:tx>
          <c:spPr>
            <a:solidFill>
              <a:srgbClr val="8FB3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8</c:v>
                </c:pt>
                <c:pt idx="1">
                  <c:v>5</c:v>
                </c:pt>
                <c:pt idx="2">
                  <c:v>20</c:v>
                </c:pt>
                <c:pt idx="3">
                  <c:v>11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Network &amp; Traffic Security</c:v>
                </c:pt>
              </c:strCache>
            </c:strRef>
          </c:tx>
          <c:spPr>
            <a:solidFill>
              <a:srgbClr val="F4A2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4</c:v>
                </c:pt>
                <c:pt idx="1">
                  <c:v>13</c:v>
                </c:pt>
                <c:pt idx="2">
                  <c:v>24</c:v>
                </c:pt>
                <c:pt idx="3">
                  <c:v>0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Cloud &amp; Container Security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Sheet1!$I$2:$I$7</c:f>
              <c:numCache>
                <c:formatCode>General</c:formatCode>
                <c:ptCount val="6"/>
                <c:pt idx="0">
                  <c:v>14</c:v>
                </c:pt>
                <c:pt idx="1">
                  <c:v>14</c:v>
                </c:pt>
                <c:pt idx="2">
                  <c:v>7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Endpoint &amp; Device Security</c:v>
                </c:pt>
              </c:strCache>
            </c:strRef>
          </c:tx>
          <c:spPr>
            <a:solidFill>
              <a:srgbClr val="9B5D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Sheet1!$J$2:$J$7</c:f>
              <c:numCache>
                <c:formatCode>General</c:formatCode>
                <c:ptCount val="6"/>
                <c:pt idx="0">
                  <c:v>5</c:v>
                </c:pt>
                <c:pt idx="1">
                  <c:v>3</c:v>
                </c:pt>
                <c:pt idx="2">
                  <c:v>3</c:v>
                </c:pt>
                <c:pt idx="3">
                  <c:v>8</c:v>
                </c:pt>
                <c:pt idx="4">
                  <c:v>9</c:v>
                </c:pt>
                <c:pt idx="5">
                  <c:v>1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Agentic AI Orchestration Security</c:v>
                </c:pt>
              </c:strCache>
            </c:strRef>
          </c:tx>
          <c:spPr>
            <a:solidFill>
              <a:srgbClr val="6C75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Sheet1!$K$2:$K$7</c:f>
              <c:numCache>
                <c:formatCode>General</c:formatCode>
                <c:ptCount val="6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Relevant patents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87</c:v>
                </c:pt>
                <c:pt idx="2">
                  <c:v>222</c:v>
                </c:pt>
                <c:pt idx="3">
                  <c:v>237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Threat &amp; Anomaly Detection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21</c:v>
                </c:pt>
                <c:pt idx="2">
                  <c:v>40</c:v>
                </c:pt>
                <c:pt idx="3">
                  <c:v>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LLM &amp; GenAI Security</c:v>
                </c:pt>
              </c:strCache>
            </c:strRef>
          </c:tx>
          <c:spPr>
            <a:solidFill>
              <a:srgbClr val="2E4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34</c:v>
                </c:pt>
                <c:pt idx="3">
                  <c:v>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SecOps Automation &amp; IR</c:v>
                </c:pt>
              </c:strCache>
            </c:strRef>
          </c:tx>
          <c:spPr>
            <a:solidFill>
              <a:srgbClr val="3E6F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</c:v>
                </c:pt>
                <c:pt idx="1">
                  <c:v>13</c:v>
                </c:pt>
                <c:pt idx="2">
                  <c:v>28</c:v>
                </c:pt>
                <c:pt idx="3">
                  <c:v>25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&amp; Access Mgmt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14</c:v>
                </c:pt>
                <c:pt idx="1">
                  <c:v>9</c:v>
                </c:pt>
                <c:pt idx="2">
                  <c:v>24</c:v>
                </c:pt>
                <c:pt idx="3">
                  <c:v>25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Vulnerability Mgmt &amp; Remediation</c:v>
                </c:pt>
              </c:strCache>
            </c:strRef>
          </c:tx>
          <c:spPr>
            <a:solidFill>
              <a:srgbClr val="64D8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9</c:v>
                </c:pt>
                <c:pt idx="1">
                  <c:v>8</c:v>
                </c:pt>
                <c:pt idx="2">
                  <c:v>18</c:v>
                </c:pt>
                <c:pt idx="3">
                  <c:v>27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&amp; Ransomware Defense</c:v>
                </c:pt>
              </c:strCache>
            </c:strRef>
          </c:tx>
          <c:spPr>
            <a:solidFill>
              <a:srgbClr val="8FB3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</c:v>
                </c:pt>
                <c:pt idx="1">
                  <c:v>10</c:v>
                </c:pt>
                <c:pt idx="2">
                  <c:v>22</c:v>
                </c:pt>
                <c:pt idx="3">
                  <c:v>23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Network &amp; Traffic Security</c:v>
                </c:pt>
              </c:strCache>
            </c:strRef>
          </c:tx>
          <c:spPr>
            <a:solidFill>
              <a:srgbClr val="F4A2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3</c:v>
                </c:pt>
                <c:pt idx="1">
                  <c:v>7</c:v>
                </c:pt>
                <c:pt idx="2">
                  <c:v>15</c:v>
                </c:pt>
                <c:pt idx="3">
                  <c:v>26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Cloud &amp; Container Security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4</c:v>
                </c:pt>
                <c:pt idx="1">
                  <c:v>8</c:v>
                </c:pt>
                <c:pt idx="2">
                  <c:v>18</c:v>
                </c:pt>
                <c:pt idx="3">
                  <c:v>17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Endpoint &amp; Device Security</c:v>
                </c:pt>
              </c:strCache>
            </c:strRef>
          </c:tx>
          <c:spPr>
            <a:solidFill>
              <a:srgbClr val="9B5D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Sheet1!$J$2:$J$5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19</c:v>
                </c:pt>
                <c:pt idx="3">
                  <c:v>11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Agentic AI Orchestration Security</c:v>
                </c:pt>
              </c:strCache>
            </c:strRef>
          </c:tx>
          <c:spPr>
            <a:solidFill>
              <a:srgbClr val="6C75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Sheet1!$K$2:$K$5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Microsoft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22</c:v>
                </c:pt>
                <c:pt idx="2">
                  <c:v>53</c:v>
                </c:pt>
                <c:pt idx="3">
                  <c:v>66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Cisco (incl. Splunk)</c:v>
                </c:pt>
              </c:strCache>
            </c:strRef>
          </c:tx>
          <c:spPr>
            <a:solidFill>
              <a:srgbClr val="2EC4B6"/>
            </a:solidFill>
            <a:ln w="3175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</c:v>
                </c:pt>
                <c:pt idx="1">
                  <c:v>23</c:v>
                </c:pt>
                <c:pt idx="2">
                  <c:v>48</c:v>
                </c:pt>
                <c:pt idx="3">
                  <c:v>46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Palo Alto Networks</c:v>
                </c:pt>
              </c:strCache>
            </c:strRef>
          </c:tx>
          <c:spPr>
            <a:solidFill>
              <a:srgbClr val="3E6FD0"/>
            </a:solidFill>
            <a:ln w="31750" cap="flat">
              <a:solidFill>
                <a:srgbClr val="3E6F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E6FD0"/>
              </a:solidFill>
              <a:ln w="9525" cap="flat">
                <a:solidFill>
                  <a:srgbClr val="3E6F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38</c:v>
                </c:pt>
                <c:pt idx="3">
                  <c:v>58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CrowdStrike</c:v>
                </c:pt>
              </c:strCache>
            </c:strRef>
          </c:tx>
          <c:spPr>
            <a:solidFill>
              <a:srgbClr val="E76F51"/>
            </a:solidFill>
            <a:ln w="3175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5</c:v>
                </c:pt>
                <c:pt idx="2">
                  <c:v>23</c:v>
                </c:pt>
                <c:pt idx="3">
                  <c:v>21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Fortinet</c:v>
                </c:pt>
              </c:strCache>
            </c:strRef>
          </c:tx>
          <c:spPr>
            <a:solidFill>
              <a:srgbClr val="F4A259"/>
            </a:solidFill>
            <a:ln w="31750" cap="flat">
              <a:solidFill>
                <a:srgbClr val="F4A2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4A259"/>
              </a:solidFill>
              <a:ln w="9525" cap="flat">
                <a:solidFill>
                  <a:srgbClr val="F4A2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6</c:v>
                </c:pt>
                <c:pt idx="1">
                  <c:v>7</c:v>
                </c:pt>
                <c:pt idx="2">
                  <c:v>17</c:v>
                </c:pt>
                <c:pt idx="3">
                  <c:v>8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Google (Alphabet)</c:v>
                </c:pt>
              </c:strCache>
            </c:strRef>
          </c:tx>
          <c:spPr>
            <a:solidFill>
              <a:srgbClr val="9B5DE5"/>
            </a:solidFill>
            <a:ln w="31750" cap="flat">
              <a:solidFill>
                <a:srgbClr val="9B5D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9B5DE5"/>
              </a:solidFill>
              <a:ln w="9525" cap="flat">
                <a:solidFill>
                  <a:srgbClr val="9B5D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3</c:v>
                </c:pt>
                <c:pt idx="1">
                  <c:v>8</c:v>
                </c:pt>
                <c:pt idx="2">
                  <c:v>8</c:v>
                </c:pt>
                <c:pt idx="3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Publications</c:v>
                </c:pt>
              </c:strCache>
            </c:strRef>
          </c:tx>
          <c:spPr>
            <a:solidFill>
              <a:srgbClr val="3E6F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United States</c:v>
                  </c:pt>
                  <c:pt idx="1">
                    <c:v>Europe (EPO)</c:v>
                  </c:pt>
                  <c:pt idx="2">
                    <c:v>PCT (WIPO)</c:v>
                  </c:pt>
                  <c:pt idx="3">
                    <c:v>China</c:v>
                  </c:pt>
                  <c:pt idx="4">
                    <c:v>India</c:v>
                  </c:pt>
                  <c:pt idx="5">
                    <c:v>South Korea</c:v>
                  </c:pt>
                  <c:pt idx="6">
                    <c:v>Other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459</c:v>
                </c:pt>
                <c:pt idx="1">
                  <c:v>76</c:v>
                </c:pt>
                <c:pt idx="2">
                  <c:v>31</c:v>
                </c:pt>
                <c:pt idx="3">
                  <c:v>16</c:v>
                </c:pt>
                <c:pt idx="4">
                  <c:v>9</c:v>
                </c:pt>
                <c:pt idx="5">
                  <c:v>8</c:v>
                </c:pt>
                <c:pt idx="6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21</c:v>
                </c:pt>
                <c:pt idx="2">
                  <c:v>40</c:v>
                </c:pt>
                <c:pt idx="3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34</c:v>
                </c:pt>
                <c:pt idx="3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13</c:v>
                </c:pt>
                <c:pt idx="2">
                  <c:v>28</c:v>
                </c:pt>
                <c:pt idx="3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9</c:v>
                </c:pt>
                <c:pt idx="2">
                  <c:v>24</c:v>
                </c:pt>
                <c:pt idx="3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8</c:v>
                </c:pt>
                <c:pt idx="2">
                  <c:v>18</c:v>
                </c:pt>
                <c:pt idx="3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10</c:v>
                </c:pt>
                <c:pt idx="2">
                  <c:v>22</c:v>
                </c:pt>
                <c:pt idx="3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7</c:v>
                </c:pt>
                <c:pt idx="2">
                  <c:v>15</c:v>
                </c:pt>
                <c:pt idx="3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8</c:v>
                </c:pt>
                <c:pt idx="2">
                  <c:v>18</c:v>
                </c:pt>
                <c:pt idx="3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19</c:v>
                </c:pt>
                <c:pt idx="3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280160"/>
            <a:ext cx="4754880" cy="4754880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365760"/>
            <a:ext cx="2834640" cy="2834640"/>
          </a:xfrm>
          <a:prstGeom prst="ellipse">
            <a:avLst/>
          </a:prstGeom>
          <a:solidFill>
            <a:srgbClr val="32439B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120640"/>
            <a:ext cx="4023360" cy="4023360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LANDSCAPE STUDY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&amp; Cybersecurity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 across 606 relevant patent publications, 2023 – H1 2026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PATENTS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29000" y="4160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2900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CATEGORIES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0" y="4160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2648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ASSIGNEES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823960" y="4160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82396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DATA CHARTS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6126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IPAgenticAIAndCyberSecurityPatents-20260702.xlsx (1,034 records) · Prepared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DATA 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1,034 raw records to a curated landscape of 606 patents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642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1,034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23225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1518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in the uploaded source file — publications from 2023 through 30 June 2026 across 14 jurisdictions.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2272" y="146304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6592" y="16642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606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736592" y="23225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PATENTS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6592" y="261518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with a clear cybersecurity and/or AI-security invention, classified into 10 categories.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75904" y="1463040"/>
            <a:ext cx="3611880" cy="2057400"/>
          </a:xfrm>
          <a:prstGeom prst="roundRect">
            <a:avLst>
              <a:gd name="adj" fmla="val 4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50224" y="16642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C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428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650224" y="23225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50224" y="261518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Data-platform plumbing, generic ML training, UI/dashboard tooling, telecom and other out-of-scope records.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794760"/>
            <a:ext cx="109728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verification — single source of truth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count, chart and patent citation in this deck is derived exclusively from the uploaded file IPAgenticAIAndCyberSecurityPatents-20260702.xlsx. No external databases were mixed in.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each record was scored against a 10-category taxonomy using its title, abstract and first-claim text; every patent is assigned to a single best-fit category, so category counts sum exactly to 606 with no double counting.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 consolidation — subsidiaries rolled up to the ultimate parent (Splunk → Cisco; Harman/Red Bend → Samsung; DeepMind, Mandiant &amp; Chronicle → Google; regional IBM and Palo Alto entities merged).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basis — one count per publication; 2026 covers H1 only (publications through 30 June 2026).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— the companion Excel workbook contains the full classified list, the 428-record exclusion log, and formula-driven pivots that recompute every figure shown here.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technology categories define the landscape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26464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4592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55448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 &amp; Anomaly Detection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417320" y="1865376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ML/behavioural models for anomalies, insider threats, fraud &amp; IOC analysis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91072" y="1426464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1645920"/>
            <a:ext cx="475488" cy="475488"/>
          </a:xfrm>
          <a:prstGeom prst="ellipse">
            <a:avLst/>
          </a:prstGeom>
          <a:solidFill>
            <a:srgbClr val="2E4A9E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59752" y="155448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GenAI Security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59752" y="1865376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defence, jailbreak &amp; hallucination detection, LLM-assisted security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414016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2633472"/>
            <a:ext cx="475488" cy="475488"/>
          </a:xfrm>
          <a:prstGeom prst="ellipse">
            <a:avLst/>
          </a:prstGeom>
          <a:solidFill>
            <a:srgbClr val="3E6FD0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54203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SecOps Automation &amp; IR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417320" y="2852928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SIEM/XDR, alert triage, investigation, playbooks &amp; attack disruption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91072" y="2414016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2633472"/>
            <a:ext cx="475488" cy="47548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59752" y="254203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Mgmt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159752" y="2852928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credentials, privileges, entitlements &amp; secrets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401568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3621024"/>
            <a:ext cx="475488" cy="475488"/>
          </a:xfrm>
          <a:prstGeom prst="ellipse">
            <a:avLst/>
          </a:prstGeom>
          <a:solidFill>
            <a:srgbClr val="2AA79B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17320" y="35295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Mgmt &amp; Remediation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417320" y="384048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discovery, SBOM, patching, code scanning &amp; posture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91072" y="3401568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92240" y="3621024"/>
            <a:ext cx="475488" cy="475488"/>
          </a:xfrm>
          <a:prstGeom prst="ellipse">
            <a:avLst/>
          </a:prstGeom>
          <a:solidFill>
            <a:srgbClr val="5A7FC7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59752" y="35295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&amp; Ransomware Defense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159752" y="384048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Malware/ransomware classification, phishing &amp; social-engineering defence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4389120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9808" y="4608576"/>
            <a:ext cx="475488" cy="475488"/>
          </a:xfrm>
          <a:prstGeom prst="ellipse">
            <a:avLst/>
          </a:prstGeom>
          <a:solidFill>
            <a:srgbClr val="D97E2B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" y="4608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17320" y="451713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Traffic Security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417320" y="482803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Firewalling, lateral movement, DNS, tunnelling &amp; zero-trust networking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91072" y="4389120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92240" y="4608576"/>
            <a:ext cx="475488" cy="475488"/>
          </a:xfrm>
          <a:prstGeom prst="ellipse">
            <a:avLst/>
          </a:prstGeom>
          <a:solidFill>
            <a:srgbClr val="D95436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4608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159752" y="451713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Container Security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159752" y="482803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workloads, tenants, Kubernetes/containers &amp; confidential computing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5376672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9808" y="5596128"/>
            <a:ext cx="475488" cy="475488"/>
          </a:xfrm>
          <a:prstGeom prst="ellipse">
            <a:avLst/>
          </a:prstGeom>
          <a:solidFill>
            <a:srgbClr val="7E3FD1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" y="5596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417320" y="550468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&amp; Device Security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417320" y="5815584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mobile, IoT, firmware, automotive &amp; hardware security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91072" y="5376672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0E3B3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92240" y="5596128"/>
            <a:ext cx="475488" cy="47548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5596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159752" y="550468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Orchestration Security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7159752" y="5815584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AI-agent orchestration + autonomous agents performing security work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94360" y="61081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working definitions for every category follow on the next two pages; a dedicated deep-dive page per category appears later in the deck.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DEFINITIONS ·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category includes — working definitions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453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 &amp; Anomaly Detection</a:t>
            </a:r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118 patents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that apply machine-learning, statistical or behavioural models to find threats — anomaly detection over events and telemetry, user/entity behaviour analytics (UEBA), insider-threat and fraud/scam detection, indicator-of-compromise analysis, and AI-driven deception such as honeypots.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32304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514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GenAI Security</a:t>
            </a:r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74 patents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7980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that either protect generative AI (prompt-injection and jailbreak defence, hallucination verification, model-abuse detection) or use large language models to perform security work (signature generation, natural-language security querying, LLM-assisted analysis).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48386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SecOps Automation &amp; IR</a:t>
            </a:r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73 patents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767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automating the security operations centre — SIEM/XDR pipelines, alert correlation and triage, incident investigation and root-cause analysis, playbooks, forensics, and automated attack disruption.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370832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4531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Mgmt</a:t>
            </a:r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72 patents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7365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covering authentication and authorization — credentials, secrets and tokens, privileged and least-privilege access, entitlements, multi-factor and single sign-on, biometrics, and session protection.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340096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54223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Mgmt &amp; Remediation</a:t>
            </a:r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62 patents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7058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for finding and fixing weaknesses — vulnerability discovery and scoring, exploit prediction, SBOM and software-supply-chain risk, code scanning and static analysis, patching, misconfiguration detection, and security-posture management.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DEFINITIONS · 2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category includes — working definitions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453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&amp; Ransomware Defense</a:t>
            </a:r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57 patents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that detect, classify or contain malicious software and campaigns — malware/ransomware classification, malicious file, URL and domain detection, sandboxing, phishing, spam and social-engineering defence.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32304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514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Traffic Security</a:t>
            </a:r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51 patents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7980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securing traffic in motion — firewalls and inline detection, lateral-movement and beaconing detection, DNS security, tunnelling and C2 detection, DDoS mitigation, zero-trust networking, SASE/SD-WAN.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48386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Container Security</a:t>
            </a:r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47 patents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767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protecting cloud-native estates — workloads, tenants and namespaces, Kubernetes and containers, SaaS/IaaS/PaaS controls, cloud security posture, and confidential computing.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370832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4531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&amp; Device Security</a:t>
            </a:r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45 patents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7365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protecting the devices themselves — endpoints and EDR, mobile, IoT and embedded systems, firmware and secure boot, automotive/vehicle security, and hardware-rooted trust.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340096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0E3B3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54223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Orchestration Security</a:t>
            </a:r>
            <a:pPr indent="0" marL="0">
              <a:buNone/>
            </a:pPr>
            <a:r>
              <a:rPr lang="en-US" sz="1000" b="1" dirty="0">
                <a:solidFill>
                  <a:srgbClr val="7F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7 patents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7058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at the intersection of AI-agent orchestration and cybersecurity: securing agentic AI systems (authorizing agent actions, vetting multi-agent plans) and autonomous AI agents that perform security work (investigation, protection, code analysis).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detection leads; agentic AI security is just emerging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78638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1600200"/>
            <a:ext cx="2971800" cy="4480560"/>
          </a:xfrm>
          <a:prstGeom prst="roundRect">
            <a:avLst>
              <a:gd name="adj" fmla="val 2769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915400" y="1828800"/>
            <a:ext cx="2514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 &amp; Anomaly Detection is the largest category (118 patents, ~19% of the landscape).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GenAI Security is already #2 (74) despite barely existing before 2025.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Orchestration Security holds just 7 patents — a genuine white-space at the intersection of AI agents and security.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COMPOSITION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of the 606-patent landscape by category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63840" y="1600200"/>
            <a:ext cx="3794760" cy="4480560"/>
          </a:xfrm>
          <a:prstGeom prst="roundRect">
            <a:avLst>
              <a:gd name="adj" fmla="val 2169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92440" y="1828800"/>
            <a:ext cx="3337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Detection-centric work (AI detection + malware + network) makes up 226 patents — 37% of the landscape.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generative-AI categories combined (LLM security + agentic AI) already account for 81 patents, 13% of the whole set.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category exceeds one-fifth of the landscape — filings are spread across the full security stack rather than concentrated in one discipline.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Microsoft, Cisco and Palo Alto Networks dominate filings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82296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9098280" y="1600200"/>
            <a:ext cx="2560320" cy="4480560"/>
          </a:xfrm>
          <a:prstGeom prst="roundRect">
            <a:avLst>
              <a:gd name="adj" fmla="val 321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326880" y="1828800"/>
            <a:ext cx="21031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holds 154 of 606 relevant patents — a 25% share of the landscape.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assignees (Microsoft, Cisco/Splunk, Palo Alto Networks) hold 64% of all patents.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freedom-to-operate review in this space starts with these three portfolios.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× category — each leader attacks a different front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71600"/>
          <a:ext cx="78638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1600200"/>
            <a:ext cx="2971800" cy="4480560"/>
          </a:xfrm>
          <a:prstGeom prst="roundRect">
            <a:avLst>
              <a:gd name="adj" fmla="val 2769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915400" y="1828800"/>
            <a:ext cx="2514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skews to AI detection (41) and SecOps automation (30) — the telemetry-rich disciplines.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 concentrates on network security (24) and malware defence (20), true to its firewall DNA.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CyberArk, Google, Samsung, Microsoft and CrowdStrike are the only holders of agentic-AI security patents.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 volume has nearly quadrupled since 2023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366760" y="1600200"/>
            <a:ext cx="3291840" cy="4480560"/>
          </a:xfrm>
          <a:prstGeom prst="roundRect">
            <a:avLst>
              <a:gd name="adj" fmla="val 25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95360" y="1828800"/>
            <a:ext cx="2834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relevant publications landed in H1 2026 alone — already exceeding full-year 2025 (222).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inflection begins in 2025, coinciding with enterprise adoption of LLM-based security tooling.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2026 bar covers publications through 30 June only.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DYNAMICS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× year — LLM security appears from nowhere in 2025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71600"/>
          <a:ext cx="72237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092440" y="160020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21040" y="1828800"/>
            <a:ext cx="3108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GenAI Security: 0 → 1 → 34 → 38. The single fastest-growing category in the landscape.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Traffic Security accelerates in 2026 (26 in H1 vs 15 in all of 2025).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Orchestration Security first appears in 2025 (4) and continues in 2026 (3) — brand-new territory.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RACE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× year — the leaders keep accelerating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7863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1600200"/>
            <a:ext cx="2971800" cy="4480560"/>
          </a:xfrm>
          <a:prstGeom prst="roundRect">
            <a:avLst>
              <a:gd name="adj" fmla="val 2769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915400" y="1828800"/>
            <a:ext cx="2514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trajectory is the steepest: 13 → 22 → 53 → 66.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Networks' H1 2026 output (58) already exceeds its full-year 2025 total (38).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Cisco/Splunk plateaus in 2026 (46 in H1 vs 48 in 2025) — the only leader not accelerating.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2026 values cover H1 only.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FOOTPRINT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patents publish — jurisdiction mix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78638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1600200"/>
            <a:ext cx="2971800" cy="4480560"/>
          </a:xfrm>
          <a:prstGeom prst="roundRect">
            <a:avLst>
              <a:gd name="adj" fmla="val 2769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915400" y="1828800"/>
            <a:ext cx="2514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dominates with 459 publications — 76% of the landscape — reflecting the US-centric filing strategies of the security majors.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 (76) and PCT (31) filings show the assets the assignees consider worth internationalising.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appears with 9 publications, including Samsung's on-device scam-detection filing — a signal of consumer-security interest in the Indian market.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DEEP DIVE · 1 OF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Threat &amp; Anomaly Detection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that apply machine-learning, statistical or behavioural models to find threats — anomaly detection over events and telemetry, user/entity behaviour analytics (UEBA), insider-threat and fraud/scam detection, indicator-of-compromise analysis, and AI-driven deception such as honeypots.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PATENTS IN THIS CATEGORY (BY FORWARD CITATIONS)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13969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US12050507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ingestion, anomaly detection and notification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 model on a baseline period of ingested data, then runs predictive analysis on incoming volumes to flag ingestion anomalies automatically — catching pipeline-level attacks and outages.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(Splunk) · 2024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citations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2186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US12008046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determination of search-query parameters for anomaly detection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Auto-tunes the window length and sensitivity of anomaly-detection queries by testing candidate parameter pairs — removing the manual tuning that makes detection rules brittle.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583680" y="32278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(Splunk) · 2024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citations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2976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US20240146747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breach detection using ensemble classification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4645152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supervised classifier with deep anomaly detection over logged events so one appliance can spot breaches consistently across different cloud providers.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6583680" y="430682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· 2024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citations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5294376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US11556640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cybersecurity analysis of extracted binary string sets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724144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strings from a suspicious binary and ranks them with an ML model trained on prior analyst work — automating a core manual step of malware triage.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583680" y="538581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2023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citations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75320" y="178308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19385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patents · 19.5% of landscape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50392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assignee: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(41)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75320" y="3429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BY YEAR</a:t>
            </a:r>
            <a:endParaRPr lang="en-US" sz="9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8275320" y="3657600"/>
          <a:ext cx="3383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DEEP DIVE · 2 OF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&amp; GenAI Security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that either protect generative AI (prompt-injection and jailbreak defence, hallucination verification, model-abuse detection) or use large language models to perform security work (signature generation, natural-language security querying, LLM-assisted analysis).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PATENTS IN THIS CATEGORY (BY FORWARD CITATIONS)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13969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US20250181836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Jailbreaking black-box large language models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branch-and-prune method that jailbreaks an LLM with only black-box access — offensive red-team technology for stress-testing model safety before attackers do.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Intelligence · 2025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citations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2186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US20250284683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query to security-database query conversion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analysts ask security questions in plain language: an LLM identifies the cybersecurity intent and generates the correct domain-specific database query.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583680" y="32278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 · 2025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citations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2976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US20250173436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Context-based cyberattack signature generation with LLMs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4645152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structured attack context into a prompt schema so a language model writes detection signatures — compressing hours of signature engineering into a generation step.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6583680" y="430682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 · 2025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citations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5294376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US12639355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hallucinations in LLM output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724144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verification prompts that test whether an LLM's answer is actually derivable from its input data, flagging fabricated results before they reach the user.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583680" y="538581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2026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75320" y="178308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19385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patents · 12.2% of landscape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50392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assignee: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 (20)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75320" y="3429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BY YEAR</a:t>
            </a:r>
            <a:endParaRPr lang="en-US" sz="9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8275320" y="3657600"/>
          <a:ext cx="3383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DEEP DIVE · 3 OF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SecOps Automation &amp; 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automating the security operations centre — SIEM/XDR pipelines, alert correlation and triage, incident investigation and root-cause analysis, playbooks, forensics, and automated attack disruption.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PATENTS IN THIS CATEGORY (BY FORWARD CITATIONS)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13969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US11704431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classification sampling and labeling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samples stored files and blobs to produce statistically reliable estimates of where sensitive data lives — making data classification tractable at cloud scale.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2023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citations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2186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US11675816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events into episodes using a streaming data processor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notable security events into grouped 'episodes' that describe one incident, so analysts investigate a story rather than thousands of raw alerts.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583680" y="32278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(Splunk) · 2023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citations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2976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US11676072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Incorporating user feedback into training of clustering model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4645152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analyst-feedback loop to the event-clustering model — corrections from investigators continuously retrain how incidents are grouped.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6583680" y="430682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(Splunk) · 2023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citations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5294376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WO2026117288A1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Grand-scale unified AI-driven rapid disruption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724144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temporal attention model detects an attack in real time, then automatically disrupts it by disabling the entities involved — detection that fights back.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583680" y="538581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2026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75320" y="178308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19385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patents · 12% of landscape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50392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assignee: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(31)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75320" y="3429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BY YEAR</a:t>
            </a:r>
            <a:endParaRPr lang="en-US" sz="9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8275320" y="3657600"/>
          <a:ext cx="3383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DEEP DIVE · 4 OF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Access Mgmt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covering authentication and authorization — credentials, secrets and tokens, privileged and least-privilege access, entitlements, multi-factor and single sign-on, biometrics, and session protection.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PATENTS IN THIS CATEGORY (BY FORWARD CITATIONS)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13969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US11783062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access to computing environment secrets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risk metadata to passwords, tokens and certificates so access decisions weigh each secret's protections, reach and blast radius — the most-cited patent in the landscape.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2023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citations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2186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US20230214481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display of sensitive content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portions of content as sensitive and lets the server decide, per device and per context, whether that portion may be rendered on screen at all.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583680" y="32278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Citrix · 2023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citations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2976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US11909731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 using ephemeral credentials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4645152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short-lived, just-in-time credentials scoped to a single request — the standing-privilege attack surface disappears when credentials expire in minutes.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6583680" y="430682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· 2024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citations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5294376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US20240303336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security for fabric networks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724144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device is compromised, extracts its context and dynamically rewrites the unified security policy across all sites of a fabric network to contain it.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583680" y="538581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(Splunk) · 2024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citations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75320" y="178308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19385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patents · 11.9% of landscape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50392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assignee: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(19)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75320" y="3429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BY YEAR</a:t>
            </a:r>
            <a:endParaRPr lang="en-US" sz="9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8275320" y="3657600"/>
          <a:ext cx="3383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DEEP DIVE · 5 OF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Mgmt &amp; Remediation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for finding and fixing weaknesses — vulnerability discovery and scoring, exploit prediction, SBOM and software-supply-chain risk, code scanning and static analysis, patching, misconfiguration detection, and security-posture management.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PATENTS IN THIS CATEGORY (BY FORWARD CITATIONS)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13969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US11983094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diagnostic context selection and use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walks analysis back from the crash symptom to earlier diagnostic contexts closer to the root cause — accelerating defect and vulnerability diagnosis.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2024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citations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2186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US20240403437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vulnerability assessments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which external APIs an application actually calls at runtime, then queries and assesses those APIs for vulnerabilities — supply-chain scanning of live dependencies.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583680" y="32278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(Splunk) · 2024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citations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2976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US20240037245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risk prediction engine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4645152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probability that a specific vulnerability will actually be exploited in a given environment, so teams patch by real risk instead of raw CVSS score.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6583680" y="430682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· 2024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citations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5294376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US20230367883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Tailoring risk mitigation of threats via SBOMs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724144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and modifies software bills of materials for large builds, then uses them to target risk assessment and threat mitigation at the components that matter.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583680" y="538581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2023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citations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75320" y="178308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19385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patents · 10.2% of landscape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50392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assignee: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(incl. Splunk) (17)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75320" y="3429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BY YEAR</a:t>
            </a:r>
            <a:endParaRPr lang="en-US" sz="9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8275320" y="3657600"/>
          <a:ext cx="3383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DEEP DIVE · 6 OF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Malware &amp; Ransomware Defense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that detect, classify or contain malicious software and campaigns — malware/ransomware classification, malicious file, URL and domain detection, sandboxing, phishing, spam and social-engineering defence.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PATENTS IN THIS CATEGORY (BY FORWARD CITATIONS)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13969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US20240022577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dual ML models for cloud detection engines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pre-filter model strips down traffic before a heavier detection model inspects it — making cloud-scale malicious-file detection economically viable.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 · 2024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citations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2186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US20250373642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command line assessment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 service that reads obfuscated or complex command lines and explains them in plain language — surfacing what an attacker's command actually does.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583680" y="32278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· 2025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citations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2976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US20250358300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domain risk scoring for advanced URL filtering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4645152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domain risk with machine learning and folds it into URL filtering, catching malicious sites in real time before reputation lists ever hear of them.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6583680" y="430682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 · 2025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citations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5294376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US20240427887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malware resolution suggestions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724144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Pre-screens endpoint malware events in the cloud and attaches suggested resolutions, so common infections are dispositioned without an analyst touching them.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583680" y="538581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· 2024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citations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75320" y="178308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19385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patents · 9.4% of landscape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50392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assignee: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 (20)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75320" y="3429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BY YEAR</a:t>
            </a:r>
            <a:endParaRPr lang="en-US" sz="9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8275320" y="3657600"/>
          <a:ext cx="3383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DEEP DIVE · 7 OF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&amp; Traffic Security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securing traffic in motion — firewalls and inline detection, lateral-movement and beaconing detection, DNS security, tunnelling and C2 detection, DDoS mitigation, zero-trust networking, SASE/SD-WAN.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PATENTS IN THIS CATEGORY (BY FORWARD CITATIONS)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13969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US12088611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 ML model to detect beaconing communications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labelled training sets from historical traffic to catch the periodic 'beacon' callbacks malware uses to reach its command-and-control servers.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(Splunk) · 2024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citations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2186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US12199997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beaconing communications using ML techniques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counterpart: applies security rules plus ML to live source-destination traffic metrics to flag active beaconing channels.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583680" y="32278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(Splunk) · 2025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citations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2976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US20240372880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control of network traffic in a cloud environment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4645152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a local security-enforcement module inside each cloud service account so traffic policy travels with the account rather than sitting at a perimeter.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6583680" y="430682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· 2024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citations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5294376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US20250030714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Kernel-space feature generation for ML traffic detection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724144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in-kernel virtual machine hooks the network interface and computes ML features at line rate, feeding user-space models that detect malicious traffic.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583680" y="538581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 · 2025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citations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75320" y="178308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19385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patents · 8.4% of landscape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50392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assignee: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 (24)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75320" y="3429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BY YEAR</a:t>
            </a:r>
            <a:endParaRPr lang="en-US" sz="9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8275320" y="3657600"/>
          <a:ext cx="3383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DEEP DIVE · 8 OF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&amp; Container Security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protecting cloud-native estates — workloads, tenants and namespaces, Kubernetes and containers, SaaS/IaaS/PaaS controls, cloud security posture, and confidential computing.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PATENTS IN THIS CATEGORY (BY FORWARD CITATIONS)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13969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US20240098114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and managing cybersecurity top threats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 curated 'top threat' list and drives a security analyzer to test incoming information specifically against those priority threats.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2024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citations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2186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US11720410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service isolation between SaaS product instances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configuration engine that provisions each SaaS application instance into its own isolated project — tenant isolation as an automated, repeatable process.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583680" y="32278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Identity · 2023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citations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2976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US20230244636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Utilization-based tracking-data retention control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4645152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how security logs and metrics are actually used, then trims retention of the low-value subsets — cutting telemetry cost without losing signal.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6583680" y="430682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2023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citations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5294376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US20250310357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for joint threat hunting, detection and forensics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724144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cloud telemetry into a temporal knowledge graph so hunting, detection and forensic queries all run over one scalable representation of the estate.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583680" y="538581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(Splunk) · 2025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citations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75320" y="178308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19385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patents · 7.8% of landscape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50392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assignee: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(incl. Splunk) (14)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75320" y="3429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BY YEAR</a:t>
            </a:r>
            <a:endParaRPr lang="en-US" sz="9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8275320" y="3657600"/>
          <a:ext cx="3383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DEEP DIVE · 9 OF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 &amp; Device Security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protecting the devices themselves — endpoints and EDR, mobile, IoT and embedded systems, firmware and secure boot, automotive/vehicle security, and hardware-rooted trust.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PATENTS IN THIS CATEGORY (BY FORWARD CITATIONS)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13969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US20250306740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device trust to request origination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a request to the trust state of the device it came from — a user 'polygraph' plus device posture makes stolen credentials useless from unknown hardware.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Fortinet · 2025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citations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2186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US12184498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Networked device discovery and management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ontology graph of devices, facilities and their relationships — going beyond network topology to know what each device is, where it sits and why it matters.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583680" y="32278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2024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citations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2976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US12184646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Networked device security posture management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4645152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that same device-facility ontology graph to manage security posture: risk decisions consider physical facility attributes, not just IP addresses.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6583680" y="430682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2024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citations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5294376"/>
            <a:ext cx="7498080" cy="969264"/>
          </a:xfrm>
          <a:prstGeom prst="roundRect">
            <a:avLst>
              <a:gd name="adj" fmla="val 6604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3766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US20250211620  — 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security groups in private edge networks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724144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endpoints into security groups by device type, role and location, and uses the group as the identity for policy in private 5G/edge networks.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583680" y="538581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2025</a:t>
            </a:r>
            <a:endParaRPr lang="en-US" sz="9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citations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75320" y="178308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19385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patents · 7.4% of landscape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50392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assignee: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Fortinet (9)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75320" y="3429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BY YEAR</a:t>
            </a:r>
            <a:endParaRPr lang="en-US" sz="9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8275320" y="3657600"/>
          <a:ext cx="3383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DEEP DIVE · 10 OF 10 · SPOTLIGHT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Orchestration Security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at the intersection of AI-agent orchestration and cybersecurity: securing agentic AI systems (authorizing agent actions, vetting multi-agent plans) and autonomous AI agents that perform security work (investigation, protection, code analysis). Only 7 of 606 patents (1.2%) sit here — the least crowded, most strategically loaded corner of this landscape.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US12670274  </a:t>
            </a:r>
            <a:pPr indent="0" marL="0">
              <a:buNone/>
            </a:pPr>
            <a:r>
              <a:rPr lang="en-US" sz="9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· 2026   </a:t>
            </a:r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securing operations in agentic AI models — an authorization gate inside the orchestration layer vets every action an autonomous component attempts.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640080" y="308152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WO2026096020A1  </a:t>
            </a:r>
            <a:pPr indent="0" marL="0">
              <a:buNone/>
            </a:pPr>
            <a:r>
              <a:rPr lang="en-US" sz="9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2026   </a:t>
            </a:r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threat investigation — an LLM-driven agent plans and executes multi-step investigations of security threats on its own.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40080" y="364845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US12609960  </a:t>
            </a:r>
            <a:pPr indent="0" marL="0">
              <a:buNone/>
            </a:pPr>
            <a:r>
              <a:rPr lang="en-US" sz="9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2026   </a:t>
            </a:r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maliciousness analysis using autonomous AI agents — chained agents select evidence and produce a maliciousness verdict for an entity.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640080" y="421538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US12476979  </a:t>
            </a:r>
            <a:pPr indent="0" marL="0">
              <a:buNone/>
            </a:pPr>
            <a:r>
              <a:rPr lang="en-US" sz="9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2025   </a:t>
            </a:r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Agentically-orchestrated foundation models for cloud security controls — agent teams assemble and validate security controls for cloud architectures.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640080" y="478231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KR20250160818A  </a:t>
            </a:r>
            <a:pPr indent="0" marL="0">
              <a:buNone/>
            </a:pPr>
            <a:r>
              <a:rPr lang="en-US" sz="9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· 2025   </a:t>
            </a:r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processing for multi-agent systems — vets each agent in an execution plan before a multi-agent workflow is allowed to run.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40080" y="53492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EP4614369A1  </a:t>
            </a:r>
            <a:pPr indent="0" marL="0">
              <a:buNone/>
            </a:pPr>
            <a:r>
              <a:rPr lang="en-US" sz="9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2025   </a:t>
            </a:r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threat protection engine — self-driving security configuration management inside a security management system.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40080" y="591616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US20250139251  </a:t>
            </a:r>
            <a:pPr indent="0" marL="0">
              <a:buNone/>
            </a:pPr>
            <a:r>
              <a:rPr lang="en-US" sz="9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· 2025   </a:t>
            </a:r>
            <a:pPr indent="0" marL="0"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code analysis copilot — an AI copilot that confirms vulnerabilities in source code and proposes corrected code.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321040" y="1417320"/>
            <a:ext cx="3291840" cy="4937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4964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patents · 1.2% of landscape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54964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assignee: </a:t>
            </a:r>
            <a:pPr indent="0" marL="0">
              <a:buNone/>
            </a:pPr>
            <a:r>
              <a:rPr lang="en-US" sz="10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(3)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49640" y="2606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BY YEAR</a:t>
            </a:r>
            <a:endParaRPr lang="en-US" sz="9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8503920" y="2834640"/>
          <a:ext cx="29260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8549640" y="52120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invention patterns: securing agentic AI systems (CyberArk, Samsung) and autonomous agents doing security work (Microsoft, Google, CrowdStrike).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PATENTS ·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patents — the most-cited assets in the 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citations signal which inventions competitors must engineer around.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92024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7830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US11783062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access to computing environment secrets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325880" y="208483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risk metadata to passwords, tokens and certificates so access decisions weigh each secret's protections, reach and blast radius — the most-cited patent in the landscape.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9921240" y="181965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2023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70 citations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60904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288950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75234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US11704431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classification sampling and labeling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25880" y="3054096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samples stored files/blobs to produce statistically reliable estimates of where sensitive data lives, making data-security classification tractable at cloud scale.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9921240" y="2788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2023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SecOps · 66 citations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3016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8587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7216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US12088611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 ML model to detect beaconing communications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325880" y="40233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labelled training sets from historical traffic to catch the periodic 'beacon' callbacks that malware uses to reach its command-and-control servers.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9921240" y="37581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(Splunk) · 2024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· 19 citations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599432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4828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6908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US20240146747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breach detection using ensemble classification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325880" y="4992624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supervised classifier with deep anomaly detection over logged events so one security appliance can spot breaches consistently across different cloud providers.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9921240" y="472744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· 2024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· 18 citations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568696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" y="57972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797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25880" y="566013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US11556640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cybersecurity analysis of extracted binary string sets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325880" y="596188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strings from suspicious binaries and ranks them with an ML model trained on prior analyses — automating a core, previously manual step of malware triage.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9921240" y="569671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2023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· 17 citations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PATENTS · 2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frontline — securing (and using) generative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74-patent LLM &amp; GenAI Security category barely existed before 2025. Five that define it: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92024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7830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US12665928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and mitigating injection of indirect instructions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325880" y="208483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content flowing into a trained model for hidden 'indirect' instructions — the prompt-injection attacks that hijack LLM applications through poisoned inputs.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9921240" y="181965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· 2026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60904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288950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75234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US12639355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hallucinations in large language model output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25880" y="3054096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verification prompts that test whether an LLM's answer is actually derivable from its input data, flagging fabricated results before they reach the user.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9921240" y="2788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2026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trustworthiness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3016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8587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7216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US12670263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vulnerability remediation action descriptions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325880" y="40233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large language model to turn raw vulnerability findings into clear, actionable remediation instructions for security teams.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9921240" y="37581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 · 2026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security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599432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4828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6908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US20260181024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alert remediation using LLMs and graph structures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325880" y="4992624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related alerts into a graph and lets an LLM reason over it to propose one consolidated remediation, attacking the alert-fatigue problem in SOCs.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9921240" y="472744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 · 2026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SecOps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568696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" y="57972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797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25880" y="566013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US12393687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for detecting command injection attacks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325880" y="596188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command-injection attempts against applications and AI-mediated interfaces — an identity vendor extending its moat into AI-era injection defence.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9921240" y="569671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· 2025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defence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PATENTS · 3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patents worth reading for the ideas alone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Hand-picked for inventive spark — each takes an unexpected angle on an old problem.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92024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7830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WO2026117288A1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Grand-scale unified AI-driven rapid disruption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325880" y="208483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temporal attention model detects an attack in real time — then automatically disrupts it by disabling the entities involved. Not just detection: an AI that fights back.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9921240" y="181965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2026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disruption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60904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288950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75234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US20250039235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honeypot to mitigate social engineering attacks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25880" y="3054096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virtualized human personalities that impersonate targeted employees and string scammers along — a decoy workforce that wastes attackers' time and harvests intel.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9921240" y="2788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· 2025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Deception tech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3016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8587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7216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IN202411059440A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 scam interaction at a user device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325880" y="40233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on-device models score live interactions (calls, messages) against scam scenarios to warn users mid-conversation — consumer-scale scam defence, filed in India.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9921240" y="37581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· 2026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· India filing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599432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4828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6908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US11620129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detection of fuzzing activity on a target program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325880" y="4992624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an agent beside a target program to sense when someone is fuzzing it for vulnerabilities — detecting the attacker's research phase, before an exploit exists.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9921240" y="472744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· 2023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Anti-recon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568696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" y="57972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797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25880" y="566013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US12670274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securing operations in agentic AI models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325880" y="596188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landscape's signature patent: a privilege broker for AI agents, deciding at runtime which operations an autonomous system may perform. Where IAM meets agentic AI.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9921240" y="569671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· 2026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security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and white-space opportunities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crowded, agents are open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57860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patents in AI threat detection vs 7 in agentic AI orchestration security. Fresh claims on agent authorization, inter-agent trust and agent-action auditing still face little prior art.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91072" y="155448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65392" y="22402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is a land-grab in progress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65392" y="257860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patents, ~99% published since Jan 2025. Prompt-injection defence and hallucination verification are being claimed now — filing windows in this category close fast.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114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companies own the 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9560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(154), Cisco/Splunk (133) and Palo Alto Networks (102) hold 64% of the landscape; any freedom-to-operate analysis starts with these three portfolios.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91072" y="39319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65392" y="4114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65392" y="46177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the direction of travel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65392" y="49560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autonomous investigation/protection filings and Google's agent-orchestrated controls point the same way: security products that act, not just alert.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120640" cy="5120640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206240" cy="4206240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&amp; Cybersecurity Patent Landscape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charts in this deck are native, editable PowerPoint charts built only from the uploaded dataset — right-click any chart and choose “Edit Data” to update the underlying numbers. The companion Excel workbook contains the full classified patent list, the exclusion log, and formula-driven pivot tables that recalculate automatically.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8463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IPAgenticAIAndCyberSecurityPatents-20260702.xlsx · 1,034 records · Prepared July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&amp; Cybersecurity Patent Landscape</dc:title>
  <dc:subject>PptxGenJS Presentation</dc:subject>
  <dc:creator>IP Analysis</dc:creator>
  <cp:lastModifiedBy>IP Analysis</cp:lastModifiedBy>
  <cp:revision>1</cp:revision>
  <dcterms:created xsi:type="dcterms:W3CDTF">2026-07-03T05:27:37Z</dcterms:created>
  <dcterms:modified xsi:type="dcterms:W3CDTF">2026-07-03T05:27:37Z</dcterms:modified>
</cp:coreProperties>
</file>