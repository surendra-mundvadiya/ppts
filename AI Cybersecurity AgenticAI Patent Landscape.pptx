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6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9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0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5FA3">
                <a:alpha val="92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F3864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Threat Detection &amp; Analytics</c:v>
                  </c:pt>
                  <c:pt idx="1">
                    <c:v>Network &amp; Traffic Security</c:v>
                  </c:pt>
                  <c:pt idx="2">
                    <c:v>Policy, Posture &amp; Platform</c:v>
                  </c:pt>
                  <c:pt idx="3">
                    <c:v>Identity &amp; Zero Trust</c:v>
                  </c:pt>
                  <c:pt idx="4">
                    <c:v>LLM &amp; GenAI Security</c:v>
                  </c:pt>
                  <c:pt idx="5">
                    <c:v>Vulnerability &amp; Risk Mgmt</c:v>
                  </c:pt>
                  <c:pt idx="6">
                    <c:v>Malware &amp; Phishing Defense</c:v>
                  </c:pt>
                  <c:pt idx="7">
                    <c:v>Agentic AI &amp; SecOps</c:v>
                  </c:pt>
                  <c:pt idx="8">
                    <c:v>Data, Cloud &amp; App Security</c:v>
                  </c:pt>
                  <c:pt idx="9">
                    <c:v>Adversarial ML Protection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122</c:v>
                </c:pt>
                <c:pt idx="1">
                  <c:v>98</c:v>
                </c:pt>
                <c:pt idx="2">
                  <c:v>81</c:v>
                </c:pt>
                <c:pt idx="3">
                  <c:v>80</c:v>
                </c:pt>
                <c:pt idx="4">
                  <c:v>77</c:v>
                </c:pt>
                <c:pt idx="5">
                  <c:v>59</c:v>
                </c:pt>
                <c:pt idx="6">
                  <c:v>45</c:v>
                </c:pt>
                <c:pt idx="7">
                  <c:v>39</c:v>
                </c:pt>
                <c:pt idx="8">
                  <c:v>30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F3864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14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bubble3D val="0"/>
            <c:spPr>
              <a:solidFill>
                <a:srgbClr val="2E5FA3"/>
              </a:solidFill>
              <a:effectLst/>
            </c:spPr>
          </c:dPt>
          <c:dPt>
            <c:idx val="2"/>
            <c:bubble3D val="0"/>
            <c:spPr>
              <a:solidFill>
                <a:srgbClr val="5B87C5"/>
              </a:solidFill>
              <a:effectLst/>
            </c:spPr>
          </c:dPt>
          <c:dPt>
            <c:idx val="3"/>
            <c:bubble3D val="0"/>
            <c:spPr>
              <a:solidFill>
                <a:srgbClr val="86A9D6"/>
              </a:solidFill>
              <a:effectLst/>
            </c:spPr>
          </c:dPt>
          <c:dPt>
            <c:idx val="4"/>
            <c:bubble3D val="0"/>
            <c:spPr>
              <a:solidFill>
                <a:srgbClr val="A9C4E4"/>
              </a:solidFill>
              <a:effectLst/>
            </c:spPr>
          </c:dPt>
          <c:dPt>
            <c:idx val="5"/>
            <c:bubble3D val="0"/>
            <c:spPr>
              <a:solidFill>
                <a:srgbClr val="C55A11"/>
              </a:solidFill>
              <a:effectLst/>
            </c:spPr>
          </c:dPt>
          <c:dPt>
            <c:idx val="6"/>
            <c:bubble3D val="0"/>
            <c:spPr>
              <a:solidFill>
                <a:srgbClr val="E08E49"/>
              </a:solidFill>
              <a:effectLst/>
            </c:spPr>
          </c:dPt>
          <c:dPt>
            <c:idx val="7"/>
            <c:bubble3D val="0"/>
            <c:spPr>
              <a:solidFill>
                <a:srgbClr val="8497B0"/>
              </a:solidFill>
              <a:effectLst/>
            </c:spPr>
          </c:dPt>
          <c:dPt>
            <c:idx val="8"/>
            <c:bubble3D val="0"/>
            <c:spPr>
              <a:solidFill>
                <a:srgbClr val="B4C7E7"/>
              </a:solidFill>
              <a:effectLst/>
            </c:spPr>
          </c:dPt>
          <c:dPt>
            <c:idx val="9"/>
            <c:bubble3D val="0"/>
            <c:spPr>
              <a:solidFill>
                <a:srgbClr val="D6DCE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8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9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Sheet1!$A$2:$A$11</c:f>
              <c:strCache>
                <c:ptCount val="10"/>
                <c:pt idx="0">
                  <c:v>Threat Detection &amp; Analytics</c:v>
                </c:pt>
                <c:pt idx="1">
                  <c:v>Network &amp; Traffic Security</c:v>
                </c:pt>
                <c:pt idx="2">
                  <c:v>Policy, Posture &amp; Platform</c:v>
                </c:pt>
                <c:pt idx="3">
                  <c:v>Identity &amp; Zero Trust</c:v>
                </c:pt>
                <c:pt idx="4">
                  <c:v>LLM &amp; GenAI Security</c:v>
                </c:pt>
                <c:pt idx="5">
                  <c:v>Vulnerability &amp; Risk Mgmt</c:v>
                </c:pt>
                <c:pt idx="6">
                  <c:v>Malware &amp; Phishing Defense</c:v>
                </c:pt>
                <c:pt idx="7">
                  <c:v>Agentic AI &amp; SecOps</c:v>
                </c:pt>
                <c:pt idx="8">
                  <c:v>Data, Cloud &amp; App Security</c:v>
                </c:pt>
                <c:pt idx="9">
                  <c:v>Adversarial ML Protection</c:v>
                </c:pt>
              </c:strCache>
            </c:strRef>
          </c:cat>
          <c:val>
            <c:numRef>
              <c:f>Sheet1!$B$2:$B$11</c:f>
              <c:numCache>
                <c:ptCount val="10"/>
                <c:pt idx="0">
                  <c:v>122</c:v>
                </c:pt>
                <c:pt idx="1">
                  <c:v>98</c:v>
                </c:pt>
                <c:pt idx="2">
                  <c:v>81</c:v>
                </c:pt>
                <c:pt idx="3">
                  <c:v>80</c:v>
                </c:pt>
                <c:pt idx="4">
                  <c:v>77</c:v>
                </c:pt>
                <c:pt idx="5">
                  <c:v>59</c:v>
                </c:pt>
                <c:pt idx="6">
                  <c:v>45</c:v>
                </c:pt>
                <c:pt idx="7">
                  <c:v>39</c:v>
                </c:pt>
                <c:pt idx="8">
                  <c:v>30</c:v>
                </c:pt>
                <c:pt idx="9">
                  <c:v>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2314A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Threat Detection &amp; Analytics</c:v>
                </c:pt>
              </c:strCache>
            </c:strRef>
          </c:tx>
          <c:spPr>
            <a:solidFill>
              <a:srgbClr val="1F3864"/>
            </a:solidFill>
            <a:ln w="3175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</c:v>
                </c:pt>
                <c:pt idx="1">
                  <c:v>49</c:v>
                </c:pt>
                <c:pt idx="2">
                  <c:v>36</c:v>
                </c:pt>
                <c:pt idx="3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Network &amp; Traffic Security</c:v>
                </c:pt>
              </c:strCache>
            </c:strRef>
          </c:tx>
          <c:spPr>
            <a:solidFill>
              <a:srgbClr val="2E5FA3"/>
            </a:solidFill>
            <a:ln w="31750" cap="flat">
              <a:solidFill>
                <a:srgbClr val="2E5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</c:v>
                </c:pt>
                <c:pt idx="1">
                  <c:v>47</c:v>
                </c:pt>
                <c:pt idx="2">
                  <c:v>12</c:v>
                </c:pt>
                <c:pt idx="3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Policy, Posture &amp; Platform</c:v>
                </c:pt>
              </c:strCache>
            </c:strRef>
          </c:tx>
          <c:spPr>
            <a:solidFill>
              <a:srgbClr val="5B87C5"/>
            </a:solidFill>
            <a:ln w="31750" cap="flat">
              <a:solidFill>
                <a:srgbClr val="5B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87C5"/>
              </a:solidFill>
              <a:ln w="9525" cap="flat">
                <a:solidFill>
                  <a:srgbClr val="5B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43</c:v>
                </c:pt>
                <c:pt idx="2">
                  <c:v>14</c:v>
                </c:pt>
                <c:pt idx="3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&amp; Zero Trust</c:v>
                </c:pt>
              </c:strCache>
            </c:strRef>
          </c:tx>
          <c:spPr>
            <a:solidFill>
              <a:srgbClr val="86A9D6"/>
            </a:solidFill>
            <a:ln w="31750" cap="flat">
              <a:solidFill>
                <a:srgbClr val="86A9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6A9D6"/>
              </a:solidFill>
              <a:ln w="9525" cap="flat">
                <a:solidFill>
                  <a:srgbClr val="86A9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9</c:v>
                </c:pt>
                <c:pt idx="3">
                  <c:v>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LLM &amp; GenAI Security</c:v>
                </c:pt>
              </c:strCache>
            </c:strRef>
          </c:tx>
          <c:spPr>
            <a:solidFill>
              <a:srgbClr val="A9C4E4"/>
            </a:solidFill>
            <a:ln w="31750" cap="flat">
              <a:solidFill>
                <a:srgbClr val="A9C4E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9C4E4"/>
              </a:solidFill>
              <a:ln w="9525" cap="flat">
                <a:solidFill>
                  <a:srgbClr val="A9C4E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11</c:v>
                </c:pt>
                <c:pt idx="1">
                  <c:v>54</c:v>
                </c:pt>
                <c:pt idx="2">
                  <c:v>11</c:v>
                </c:pt>
                <c:pt idx="3">
                  <c:v>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Vulnerability &amp; Risk Mgmt</c:v>
                </c:pt>
              </c:strCache>
            </c:strRef>
          </c:tx>
          <c:spPr>
            <a:solidFill>
              <a:srgbClr val="C55A11"/>
            </a:solidFill>
            <a:ln w="31750" cap="flat">
              <a:solidFill>
                <a:srgbClr val="C55A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24</c:v>
                </c:pt>
                <c:pt idx="1">
                  <c:v>26</c:v>
                </c:pt>
                <c:pt idx="2">
                  <c:v>8</c:v>
                </c:pt>
                <c:pt idx="3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314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B6B82"/>
                    </a:solidFill>
                    <a:latin typeface="Times New Roman"/>
                  </a:defRPr>
                </a:pPr>
                <a:r>
                  <a:rPr sz="1300" b="0" i="0" u="none" strike="noStrike">
                    <a:solidFill>
                      <a:srgbClr val="5B6B82"/>
                    </a:solidFill>
                    <a:latin typeface="Times New Roman"/>
                  </a:rPr>
                  <a:t>Applications filed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314A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 filed</c:v>
                </c:pt>
              </c:strCache>
            </c:strRef>
          </c:tx>
          <c:spPr>
            <a:solidFill>
              <a:srgbClr val="1F3864"/>
            </a:solidFill>
            <a:ln w="3810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82"/>
                    </a:solidFill>
                    <a:latin typeface="Times New Roman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</c:v>
                </c:pt>
                <c:pt idx="1">
                  <c:v>299</c:v>
                </c:pt>
                <c:pt idx="2">
                  <c:v>110</c:v>
                </c:pt>
                <c:pt idx="3">
                  <c:v>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Publications</c:v>
                </c:pt>
              </c:strCache>
            </c:strRef>
          </c:tx>
          <c:spPr>
            <a:solidFill>
              <a:srgbClr val="5B87C5"/>
            </a:solidFill>
            <a:ln w="38100" cap="flat">
              <a:solidFill>
                <a:srgbClr val="5B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82"/>
                    </a:solidFill>
                    <a:latin typeface="Times New Roman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B87C5"/>
              </a:solidFill>
              <a:ln w="9525" cap="flat">
                <a:solidFill>
                  <a:srgbClr val="5B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</c:v>
                </c:pt>
                <c:pt idx="1">
                  <c:v>73</c:v>
                </c:pt>
                <c:pt idx="2">
                  <c:v>300</c:v>
                </c:pt>
                <c:pt idx="3">
                  <c:v>244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Grants</c:v>
                </c:pt>
              </c:strCache>
            </c:strRef>
          </c:tx>
          <c:spPr>
            <a:solidFill>
              <a:srgbClr val="C55A11"/>
            </a:solidFill>
            <a:ln w="38100" cap="flat">
              <a:solidFill>
                <a:srgbClr val="C55A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B6B82"/>
                    </a:solidFill>
                    <a:latin typeface="Times New Roman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13</c:v>
                </c:pt>
                <c:pt idx="2">
                  <c:v>80</c:v>
                </c:pt>
                <c:pt idx="3">
                  <c:v>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B6B82"/>
                  </a:solidFill>
                  <a:latin typeface="Times New Roman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314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314A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1F3864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Zscaler (incl. Avalor)</c:v>
                  </c:pt>
                  <c:pt idx="1">
                    <c:v>Microsoft</c:v>
                  </c:pt>
                  <c:pt idx="2">
                    <c:v>Cisco</c:v>
                  </c:pt>
                  <c:pt idx="3">
                    <c:v>Palo Alto Networks</c:v>
                  </c:pt>
                  <c:pt idx="4">
                    <c:v>CrowdStrike</c:v>
                  </c:pt>
                  <c:pt idx="5">
                    <c:v>Fortinet</c:v>
                  </c:pt>
                  <c:pt idx="6">
                    <c:v>Google / DeepMind</c:v>
                  </c:pt>
                  <c:pt idx="7">
                    <c:v>Intel</c:v>
                  </c:pt>
                  <c:pt idx="8">
                    <c:v>NVIDIA (incl. Mellanox)</c:v>
                  </c:pt>
                  <c:pt idx="9">
                    <c:v>IBM</c:v>
                  </c:pt>
                  <c:pt idx="10">
                    <c:v>Oracle</c:v>
                  </c:pt>
                  <c:pt idx="11">
                    <c:v>Trend Micro</c:v>
                  </c:pt>
                  <c:pt idx="12">
                    <c:v>CyberArk</c:v>
                  </c:pt>
                  <c:pt idx="13">
                    <c:v>VMware</c:v>
                  </c:pt>
                  <c:pt idx="14">
                    <c:v>Alibaba Group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114</c:v>
                </c:pt>
                <c:pt idx="1">
                  <c:v>98</c:v>
                </c:pt>
                <c:pt idx="2">
                  <c:v>92</c:v>
                </c:pt>
                <c:pt idx="3">
                  <c:v>69</c:v>
                </c:pt>
                <c:pt idx="4">
                  <c:v>64</c:v>
                </c:pt>
                <c:pt idx="5">
                  <c:v>49</c:v>
                </c:pt>
                <c:pt idx="6">
                  <c:v>31</c:v>
                </c:pt>
                <c:pt idx="7">
                  <c:v>16</c:v>
                </c:pt>
                <c:pt idx="8">
                  <c:v>13</c:v>
                </c:pt>
                <c:pt idx="9">
                  <c:v>11</c:v>
                </c:pt>
                <c:pt idx="10">
                  <c:v>11</c:v>
                </c:pt>
                <c:pt idx="11">
                  <c:v>10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50" u="none">
                  <a:solidFill>
                    <a:srgbClr val="1F3864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14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Publications</c:v>
                </c:pt>
              </c:strCache>
            </c:strRef>
          </c:tx>
          <c:spPr>
            <a:solidFill>
              <a:srgbClr val="2E5F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1F3864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United States</c:v>
                  </c:pt>
                  <c:pt idx="1">
                    <c:v>PCT (WIPO)</c:v>
                  </c:pt>
                  <c:pt idx="2">
                    <c:v>Europe (EPO)</c:v>
                  </c:pt>
                  <c:pt idx="3">
                    <c:v>India</c:v>
                  </c:pt>
                  <c:pt idx="4">
                    <c:v>China</c:v>
                  </c:pt>
                  <c:pt idx="5">
                    <c:v>Japan</c:v>
                  </c:pt>
                  <c:pt idx="6">
                    <c:v>South Korea</c:v>
                  </c:pt>
                  <c:pt idx="7">
                    <c:v>Germany</c:v>
                  </c:pt>
                  <c:pt idx="8">
                    <c:v>Canada</c:v>
                  </c:pt>
                  <c:pt idx="9">
                    <c:v>Taiwan</c:v>
                  </c:pt>
                  <c:pt idx="10">
                    <c:v>Israel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496</c:v>
                </c:pt>
                <c:pt idx="1">
                  <c:v>54</c:v>
                </c:pt>
                <c:pt idx="2">
                  <c:v>36</c:v>
                </c:pt>
                <c:pt idx="3">
                  <c:v>18</c:v>
                </c:pt>
                <c:pt idx="4">
                  <c:v>16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50" u="none">
                  <a:solidFill>
                    <a:srgbClr val="1F3864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2314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Occurrences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F3864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H04L63/1425</c:v>
                  </c:pt>
                  <c:pt idx="1">
                    <c:v>H04L63/1416</c:v>
                  </c:pt>
                  <c:pt idx="2">
                    <c:v>H04L63/20</c:v>
                  </c:pt>
                  <c:pt idx="3">
                    <c:v>H04L63/1433</c:v>
                  </c:pt>
                  <c:pt idx="4">
                    <c:v>G06F21/577</c:v>
                  </c:pt>
                  <c:pt idx="5">
                    <c:v>G06N20/00</c:v>
                  </c:pt>
                  <c:pt idx="6">
                    <c:v>G06F21/554</c:v>
                  </c:pt>
                  <c:pt idx="7">
                    <c:v>G06F21/552</c:v>
                  </c:pt>
                  <c:pt idx="8">
                    <c:v>H04L63/1441</c:v>
                  </c:pt>
                  <c:pt idx="9">
                    <c:v>G06F2221/034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153</c:v>
                </c:pt>
                <c:pt idx="1">
                  <c:v>123</c:v>
                </c:pt>
                <c:pt idx="2">
                  <c:v>112</c:v>
                </c:pt>
                <c:pt idx="3">
                  <c:v>110</c:v>
                </c:pt>
                <c:pt idx="4">
                  <c:v>87</c:v>
                </c:pt>
                <c:pt idx="5">
                  <c:v>87</c:v>
                </c:pt>
                <c:pt idx="6">
                  <c:v>85</c:v>
                </c:pt>
                <c:pt idx="7">
                  <c:v>66</c:v>
                </c:pt>
                <c:pt idx="8">
                  <c:v>61</c:v>
                </c:pt>
                <c:pt idx="9">
                  <c:v>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F3864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314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B87C5"/>
              </a:solidFill>
              <a:effectLst/>
            </c:spPr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bubble3D val="0"/>
            <c:spPr>
              <a:solidFill>
                <a:srgbClr val="C55A1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Times New Roman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Published Application</c:v>
                </c:pt>
                <c:pt idx="1">
                  <c:v>Granted</c:v>
                </c:pt>
                <c:pt idx="2">
                  <c:v>PCT Application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405</c:v>
                </c:pt>
                <c:pt idx="1">
                  <c:v>176</c:v>
                </c:pt>
                <c:pt idx="2">
                  <c:v>54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2314A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Cisco</c:v>
                </c:pt>
              </c:strCache>
            </c:strRef>
          </c:tx>
          <c:spPr>
            <a:solidFill>
              <a:srgbClr val="1F3864"/>
            </a:solidFill>
            <a:ln w="33020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37</c:v>
                </c:pt>
                <c:pt idx="2">
                  <c:v>16</c:v>
                </c:pt>
                <c:pt idx="3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CrowdStrike</c:v>
                </c:pt>
              </c:strCache>
            </c:strRef>
          </c:tx>
          <c:spPr>
            <a:solidFill>
              <a:srgbClr val="C55A11"/>
            </a:solidFill>
            <a:ln w="33020" cap="flat">
              <a:solidFill>
                <a:srgbClr val="C55A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55A11"/>
              </a:solidFill>
              <a:ln w="9525" cap="flat">
                <a:solidFill>
                  <a:srgbClr val="C55A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</c:v>
                </c:pt>
                <c:pt idx="1">
                  <c:v>41</c:v>
                </c:pt>
                <c:pt idx="2">
                  <c:v>9</c:v>
                </c:pt>
                <c:pt idx="3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Fortinet</c:v>
                </c:pt>
              </c:strCache>
            </c:strRef>
          </c:tx>
          <c:spPr>
            <a:solidFill>
              <a:srgbClr val="8497B0"/>
            </a:solidFill>
            <a:ln w="33020" cap="flat">
              <a:solidFill>
                <a:srgbClr val="8497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497B0"/>
              </a:solidFill>
              <a:ln w="9525" cap="flat">
                <a:solidFill>
                  <a:srgbClr val="8497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15</c:v>
                </c:pt>
                <c:pt idx="1">
                  <c:v>24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2E5FA3"/>
            </a:solidFill>
            <a:ln w="33020" cap="flat">
              <a:solidFill>
                <a:srgbClr val="2E5F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5FA3"/>
              </a:solidFill>
              <a:ln w="9525" cap="flat">
                <a:solidFill>
                  <a:srgbClr val="2E5F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32</c:v>
                </c:pt>
                <c:pt idx="1">
                  <c:v>48</c:v>
                </c:pt>
                <c:pt idx="2">
                  <c:v>17</c:v>
                </c:pt>
                <c:pt idx="3">
                  <c:v>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Palo Alto Networks</c:v>
                </c:pt>
              </c:strCache>
            </c:strRef>
          </c:tx>
          <c:spPr>
            <a:solidFill>
              <a:srgbClr val="E08E49"/>
            </a:solidFill>
            <a:ln w="33020" cap="flat">
              <a:solidFill>
                <a:srgbClr val="E08E4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8E49"/>
              </a:solidFill>
              <a:ln w="9525" cap="flat">
                <a:solidFill>
                  <a:srgbClr val="E08E4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25</c:v>
                </c:pt>
                <c:pt idx="1">
                  <c:v>39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Zscaler (incl. Avalor)</c:v>
                </c:pt>
              </c:strCache>
            </c:strRef>
          </c:tx>
          <c:spPr>
            <a:solidFill>
              <a:srgbClr val="5B87C5"/>
            </a:solidFill>
            <a:ln w="33020" cap="flat">
              <a:solidFill>
                <a:srgbClr val="5B87C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87C5"/>
              </a:solidFill>
              <a:ln w="9525" cap="flat">
                <a:solidFill>
                  <a:srgbClr val="5B87C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2026*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50</c:v>
                </c:pt>
                <c:pt idx="1">
                  <c:v>49</c:v>
                </c:pt>
                <c:pt idx="2">
                  <c:v>14</c:v>
                </c:pt>
                <c:pt idx="3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314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2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solidFill>
                <a:srgbClr val="22314A"/>
              </a:solidFill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Forward citations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50" u="none">
                    <a:solidFill>
                      <a:srgbClr val="1F3864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US20240403437</c:v>
                  </c:pt>
                  <c:pt idx="1">
                    <c:v>US20240244070</c:v>
                  </c:pt>
                  <c:pt idx="2">
                    <c:v>US20240291846</c:v>
                  </c:pt>
                  <c:pt idx="3">
                    <c:v>US20240129323</c:v>
                  </c:pt>
                  <c:pt idx="4">
                    <c:v>US12445474</c:v>
                  </c:pt>
                  <c:pt idx="5">
                    <c:v>US20240422198</c:v>
                  </c:pt>
                  <c:pt idx="6">
                    <c:v>US20250047701</c:v>
                  </c:pt>
                  <c:pt idx="7">
                    <c:v>US20240356918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</c:v>
                </c:pt>
                <c:pt idx="1">
                  <c:v>14</c:v>
                </c:pt>
                <c:pt idx="2">
                  <c:v>11</c:v>
                </c:pt>
                <c:pt idx="3">
                  <c:v>11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50" u="none">
                  <a:solidFill>
                    <a:srgbClr val="1F3864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2314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2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Landscape of 635 AI-driven cybersecurity patent publications with agentic AI relevance, exported 30 June 2026. Coverage spans 29 consolidated assignee groups across 11 jurisdictions, application dates Jan 2023 through Feb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635 publications, 29 assignee groups, 78% US. Growth +36% YoY 2023→2024. Leaders Zscaler/Microsoft/Cisco ≈ half the dataset. LLM security is the breakout theme; adversarial ML protection is the largest white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Grant status derived from publication-number kind codes (US2… = pre-grant application). No inventor, legal-event or family columns exist in the export — flagged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assignee consolidation (41→29) and the weighted keyword taxonomy. Classification is deterministic and reproducible; category definitions are in the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categories; the four detection/network/policy/identity pillars account for 60% of the dataset. Adversarial ML at just 4 patents foreshadows the white-space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Top-4 categories (detection, network, policy, identity) = 381 patents = 60%. LLM &amp; GenAI already 5th at 12.1% despite existing for barely two filing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Doughnut view of the same distribution; use the three call-outs to frame anchors vs balanced middle vs thin 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largest categories by application year. Headline: LLM security nearly quintupled 2023→2024. Identity/zero-trust is the only major category declining in absolute filings.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curve (true demand signal) rose 220→299. Publication curve peaks 2025 as the 2023–24 cohort publishes. Grant curve: 13 grants published 2024, 80 in 2025, 81 already in 2026 — prosecution is moving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use consolidated corporate groups. Pure-play security vendors (Zscaler, PANW, CrowdStrike, Fortinet, Trend Micro, CyberArk, SentinelOne) collectively rival the hyperscalers.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row-wise: Zscaler concentrated in identity/zero-trust (43) and policy/posture; Microsoft and Cisco lead LLM &amp; GenAI security; CrowdStrike is the only top-10 assignee with adversarial-ML filings (4).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Publication venue analysis (one venue per record in this export). India shows 18 publications — notable for jurisdictional strategy discussions.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CPC counts are occurrences across full code strings. The pairing pattern H04L63/G06F21 + G06N20 is the classification signature of this landscape.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legal-event data in the export, so status is kind-code derived. Expect the granted share to climb steeply through 2026-27 as the 2023-24 cohort prosecutes.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quarter from 2023 Q1 to 2024 Q4 grew or held: 37→83. The post-2024 decline is a publication-lag artefact, not a demand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largest filers by application year. CrowdStrike's 2024 tripling is the single sharpest corporate acceleration in the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= portfolio size, Y = category diversity, bubble = share filed 2024+. CrowdStrike: highest recency (78%) and full 10-category coverage. Intel: small but 81% recent — a late, fast entrant.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Stacked share view by application year. Story: GenAI displaces identity as the growth theme, while detection holds a stable ~17-33% band (2025 partial data skews detection up).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cloud from title+abstract term frequencies after stop-word removal. Bigram table shows GenAI vocabulary alongside traditional security terminology.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Emergence criteria: filing acceleration (YoY growth), recency share, and keyword growth. The three tiers run from breakout (LLM) to forming (agentic) to nascent (adversarial ML).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Above the 70% recency line: LLM security, adversarial ML, agentic AI, detection analytics and policy/posture. Detection combines all three: highest volume (122), high recency (70.5%) and most forward citations (82).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white spaces: adversarial ML (near-zero density), agentic guardrails (unclaimed sub-domain), data/cloud AI pipelines (declining attention), and Asian jurisdictions (thin geographic coverage).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Forward citations skew to 2023 filings (more time to accrue). Use as an influence proxy only; normalise by age for formal quality scoring.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Composite score: forward citations ×3, grant bonus, recency bonus. First half dominated by 2023 filings that have accrued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half includes granted assets with early citations — candidates for claim-chart review in any FTO or licensing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Postures derived from volume, growth, diversity and category mix. CrowdStrike is the swing player: challenger volume with leader-grade breadth and the highest recency.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Quadrant model: recency vs volume. Emerging = low volume/high recency; Growing = high/high; Maturing = high volume with mid recency; Established/saturated = recency below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S/W drawn strictly from dataset evidence: category mixes, growth rates, citations and jurisdiction spread. Green = strengths, red = weaknesses/exposures.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findings: growth, concentration, GenAI rotation, fast movers, US-centricity, and the adversarial-ML white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recommendation lanes. Emphasise timing on white-space filing: the unpublished 2025-26 pipeline means windows close as those applications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synthesis: expansion phase, concentrated leadership, GenAI rotation, and time-bound white-space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transparency slide: consolidation map, taxonomy logic, and the four data gaps (inventors, families, legal events, citation lists).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image" Target="../media/image-16-1.png"/><Relationship Id="rId3" Type="http://schemas.openxmlformats.org/officeDocument/2006/relationships/image" Target="../media/image-16-2.png"/><Relationship Id="rId4" Type="http://schemas.openxmlformats.org/officeDocument/2006/relationships/image" Target="../media/image-1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05256" y="539496"/>
            <a:ext cx="1280160" cy="45720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185416" y="539496"/>
            <a:ext cx="1005840" cy="91440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" y="996696"/>
            <a:ext cx="640080" cy="109728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545336" y="1453896"/>
            <a:ext cx="1645920" cy="64008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15016" y="5202936"/>
            <a:ext cx="914400" cy="73152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9774936" y="5934456"/>
            <a:ext cx="1554480" cy="27432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415016" y="4654296"/>
            <a:ext cx="1097280" cy="54864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89336" y="4014216"/>
            <a:ext cx="822960" cy="64008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415016" y="4014216"/>
            <a:ext cx="274320" cy="1188720"/>
          </a:xfrm>
          <a:prstGeom prst="line">
            <a:avLst/>
          </a:prstGeom>
          <a:noFill/>
          <a:ln w="12700">
            <a:solidFill>
              <a:srgbClr val="3D5C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914400"/>
            <a:ext cx="164592" cy="164592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457200"/>
            <a:ext cx="164592" cy="164592"/>
          </a:xfrm>
          <a:prstGeom prst="ellipse">
            <a:avLst/>
          </a:prstGeom>
          <a:solidFill>
            <a:srgbClr val="5B87C5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8960" y="1371600"/>
            <a:ext cx="164592" cy="164592"/>
          </a:xfrm>
          <a:prstGeom prst="ellipse">
            <a:avLst/>
          </a:prstGeom>
          <a:solidFill>
            <a:srgbClr val="5B87C5"/>
          </a:solidFill>
          <a:ln/>
        </p:spPr>
      </p:sp>
      <p:sp>
        <p:nvSpPr>
          <p:cNvPr id="14" name="Shape 12"/>
          <p:cNvSpPr/>
          <p:nvPr/>
        </p:nvSpPr>
        <p:spPr>
          <a:xfrm>
            <a:off x="1463040" y="2011680"/>
            <a:ext cx="164592" cy="164592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32720" y="5120640"/>
            <a:ext cx="164592" cy="164592"/>
          </a:xfrm>
          <a:prstGeom prst="ellipse">
            <a:avLst/>
          </a:prstGeom>
          <a:solidFill>
            <a:srgbClr val="5B87C5"/>
          </a:solidFill>
          <a:ln/>
        </p:spPr>
      </p:sp>
      <p:sp>
        <p:nvSpPr>
          <p:cNvPr id="16" name="Shape 14"/>
          <p:cNvSpPr/>
          <p:nvPr/>
        </p:nvSpPr>
        <p:spPr>
          <a:xfrm>
            <a:off x="11247120" y="5852160"/>
            <a:ext cx="164592" cy="164592"/>
          </a:xfrm>
          <a:prstGeom prst="ellipse">
            <a:avLst/>
          </a:prstGeom>
          <a:solidFill>
            <a:srgbClr val="5B87C5"/>
          </a:solidFill>
          <a:ln/>
        </p:spPr>
      </p:sp>
      <p:sp>
        <p:nvSpPr>
          <p:cNvPr id="17" name="Shape 15"/>
          <p:cNvSpPr/>
          <p:nvPr/>
        </p:nvSpPr>
        <p:spPr>
          <a:xfrm>
            <a:off x="9692640" y="6126480"/>
            <a:ext cx="164592" cy="164592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0" y="4572000"/>
            <a:ext cx="164592" cy="164592"/>
          </a:xfrm>
          <a:prstGeom prst="ellipse">
            <a:avLst/>
          </a:prstGeom>
          <a:solidFill>
            <a:srgbClr val="5B87C5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07040" y="3931920"/>
            <a:ext cx="164592" cy="164592"/>
          </a:xfrm>
          <a:prstGeom prst="ellipse">
            <a:avLst/>
          </a:prstGeom>
          <a:solidFill>
            <a:srgbClr val="5B87C5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0" y="1417320"/>
            <a:ext cx="1005840" cy="100584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9125" y="1638605"/>
            <a:ext cx="563270" cy="56327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26060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Patent Landscape Analysis</a:t>
            </a:r>
            <a:endParaRPr lang="en-US" sz="4400" dirty="0"/>
          </a:p>
        </p:txBody>
      </p:sp>
      <p:sp>
        <p:nvSpPr>
          <p:cNvPr id="23" name="Text 20"/>
          <p:cNvSpPr/>
          <p:nvPr/>
        </p:nvSpPr>
        <p:spPr>
          <a:xfrm>
            <a:off x="914400" y="345643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AI-Driven Cybersecurity &amp; Agentic AI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914400" y="4343400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9C4E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Overview: 635 patent publications  |  29 corporate assignee groups  |  11 jurisdictions  |  Filings 2023 – 2026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A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Source: IPCyberPatentWithAgenticAIExport  |  Prepared: July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AI-native cybersecurity patenting is accelerating sharply, led by six platform vendors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783080" cy="1417320"/>
          </a:xfrm>
          <a:prstGeom prst="roundRect">
            <a:avLst>
              <a:gd name="adj" fmla="val 4516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63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76072" y="2029968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Patent publications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14016" y="1371600"/>
            <a:ext cx="1783080" cy="1417320"/>
          </a:xfrm>
          <a:prstGeom prst="roundRect">
            <a:avLst>
              <a:gd name="adj" fmla="val 4516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14016" y="1463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87168" y="2029968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Assignee groups (41 legal entities)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371600"/>
            <a:ext cx="1783080" cy="1417320"/>
          </a:xfrm>
          <a:prstGeom prst="roundRect">
            <a:avLst>
              <a:gd name="adj" fmla="val 4516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25112" y="1463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98264" y="2029968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Jurisdictions (78% US)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6208" y="1371600"/>
            <a:ext cx="1783080" cy="1417320"/>
          </a:xfrm>
          <a:prstGeom prst="roundRect">
            <a:avLst>
              <a:gd name="adj" fmla="val 4516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1463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2023–26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09360" y="2029968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Filing period (priorities to 2015)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7304" y="1371600"/>
            <a:ext cx="1783080" cy="1417320"/>
          </a:xfrm>
          <a:prstGeom prst="roundRect">
            <a:avLst>
              <a:gd name="adj" fmla="val 4516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47304" y="1463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20456" y="2029968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categories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058400" y="1371600"/>
            <a:ext cx="1783080" cy="1417320"/>
          </a:xfrm>
          <a:prstGeom prst="roundRect">
            <a:avLst>
              <a:gd name="adj" fmla="val 4516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0" y="14630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0131552" y="2029968"/>
            <a:ext cx="16367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Granted (27.7%)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66928" y="3474720"/>
            <a:ext cx="1106424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Filing volume grew from 220 applications in 2023 to 299 in 2024 (+36%); 2025–26 counts are understated only by the 18-month publication lag, indicating a sustained upcycle.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Zscaler (114), Microsoft (98) and Cisco (92) hold ~48% of the dataset; CrowdStrike is the fastest riser, nearly tripling annual filings from 14 (2023) to 41 (2024).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&amp; GenAI Security is the breakout category: filings jumped from 11 (2023) to 54 (2024), and 85.7% of its patents were filed in 2024 or later.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remains the centre of gravity: Threat Detection &amp; Behavioral Analytics (122 patents, 19.2%) and Network &amp; Traffic Security (98, 15.4%) are the two largest categories.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ML &amp; Model Protection is nearly empty (4 patents, 0.6%) — a clear white-space filing opportunity as AI models themselves become the attack surface.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publication per record — no duplicate publication or application numbers detected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6148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0020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19" y="1704807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54533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635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67512" y="220370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publications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67512" y="2569464"/>
            <a:ext cx="2432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Distinct publication numbers; each record is a unique family member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10712" y="1417320"/>
            <a:ext cx="276148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75304" y="160020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911" y="1704807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0520" y="154533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176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3575304" y="220370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Granted patents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575304" y="2569464"/>
            <a:ext cx="2432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 grants (170) plus EP B-publications (6); 27.7% of dataset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318504" y="1417320"/>
            <a:ext cx="276148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3096" y="160020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703" y="1704807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68312" y="154533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405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6483096" y="220370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Published applications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483096" y="2569464"/>
            <a:ext cx="2432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Pre-grant national/regional publications (63.8%)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226296" y="1417320"/>
            <a:ext cx="276148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90888" y="160020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5495" y="1704807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76104" y="154533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</a:t>
            </a:r>
            <a:endParaRPr lang="en-US" sz="2300" dirty="0"/>
          </a:p>
        </p:txBody>
      </p:sp>
      <p:sp>
        <p:nvSpPr>
          <p:cNvPr id="26" name="Text 20"/>
          <p:cNvSpPr/>
          <p:nvPr/>
        </p:nvSpPr>
        <p:spPr>
          <a:xfrm>
            <a:off x="9390888" y="220370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PCT applications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390888" y="2569464"/>
            <a:ext cx="2432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 publications pending national phase entry (8.5%)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02920" y="3749040"/>
            <a:ext cx="276148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67512" y="393192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19" y="4036527"/>
            <a:ext cx="266273" cy="26627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252728" y="387705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 2023</a:t>
            </a:r>
            <a:endParaRPr lang="en-US" sz="2300" dirty="0"/>
          </a:p>
        </p:txBody>
      </p:sp>
      <p:sp>
        <p:nvSpPr>
          <p:cNvPr id="32" name="Text 25"/>
          <p:cNvSpPr/>
          <p:nvPr/>
        </p:nvSpPr>
        <p:spPr>
          <a:xfrm>
            <a:off x="667512" y="453542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Earliest application</a:t>
            </a:r>
            <a:endParaRPr lang="en-US" sz="1550" dirty="0"/>
          </a:p>
        </p:txBody>
      </p:sp>
      <p:sp>
        <p:nvSpPr>
          <p:cNvPr id="33" name="Text 26"/>
          <p:cNvSpPr/>
          <p:nvPr/>
        </p:nvSpPr>
        <p:spPr>
          <a:xfrm>
            <a:off x="667512" y="4901184"/>
            <a:ext cx="2432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Earliest priority claim reaches back to Aug 2015 (continuations)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3410712" y="3749040"/>
            <a:ext cx="276148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575304" y="393192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9911" y="4036527"/>
            <a:ext cx="266273" cy="26627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160520" y="387705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Feb 2026</a:t>
            </a:r>
            <a:endParaRPr lang="en-US" sz="2300" dirty="0"/>
          </a:p>
        </p:txBody>
      </p:sp>
      <p:sp>
        <p:nvSpPr>
          <p:cNvPr id="38" name="Text 30"/>
          <p:cNvSpPr/>
          <p:nvPr/>
        </p:nvSpPr>
        <p:spPr>
          <a:xfrm>
            <a:off x="3575304" y="453542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Latest application</a:t>
            </a:r>
            <a:endParaRPr lang="en-US" sz="1550" dirty="0"/>
          </a:p>
        </p:txBody>
      </p:sp>
      <p:sp>
        <p:nvSpPr>
          <p:cNvPr id="39" name="Text 31"/>
          <p:cNvSpPr/>
          <p:nvPr/>
        </p:nvSpPr>
        <p:spPr>
          <a:xfrm>
            <a:off x="3575304" y="4901184"/>
            <a:ext cx="2432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Recent filings under-represented due to publication lag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6318504" y="3749040"/>
            <a:ext cx="276148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83096" y="393192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7703" y="4036527"/>
            <a:ext cx="266273" cy="266273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7068312" y="387705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484</a:t>
            </a:r>
            <a:endParaRPr lang="en-US" sz="2300" dirty="0"/>
          </a:p>
        </p:txBody>
      </p:sp>
      <p:sp>
        <p:nvSpPr>
          <p:cNvPr id="44" name="Text 35"/>
          <p:cNvSpPr/>
          <p:nvPr/>
        </p:nvSpPr>
        <p:spPr>
          <a:xfrm>
            <a:off x="6483096" y="453542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 citations</a:t>
            </a:r>
            <a:endParaRPr lang="en-US" sz="1550" dirty="0"/>
          </a:p>
        </p:txBody>
      </p:sp>
      <p:sp>
        <p:nvSpPr>
          <p:cNvPr id="45" name="Text 36"/>
          <p:cNvSpPr/>
          <p:nvPr/>
        </p:nvSpPr>
        <p:spPr>
          <a:xfrm>
            <a:off x="6483096" y="4901184"/>
            <a:ext cx="2432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Received across 170 cited records; 9,399 backward citations</a:t>
            </a:r>
            <a:endParaRPr lang="en-US" sz="1250" dirty="0"/>
          </a:p>
        </p:txBody>
      </p:sp>
      <p:sp>
        <p:nvSpPr>
          <p:cNvPr id="46" name="Shape 37"/>
          <p:cNvSpPr/>
          <p:nvPr/>
        </p:nvSpPr>
        <p:spPr>
          <a:xfrm>
            <a:off x="9226296" y="3749040"/>
            <a:ext cx="2761488" cy="20574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390888" y="3931920"/>
            <a:ext cx="475488" cy="47548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5495" y="4036527"/>
            <a:ext cx="266273" cy="266273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976104" y="3877056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× Cyber</a:t>
            </a:r>
            <a:endParaRPr lang="en-US" sz="2300" dirty="0"/>
          </a:p>
        </p:txBody>
      </p:sp>
      <p:sp>
        <p:nvSpPr>
          <p:cNvPr id="50" name="Text 40"/>
          <p:cNvSpPr/>
          <p:nvPr/>
        </p:nvSpPr>
        <p:spPr>
          <a:xfrm>
            <a:off x="9390888" y="4535424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scope</a:t>
            </a:r>
            <a:endParaRPr lang="en-US" sz="1550" dirty="0"/>
          </a:p>
        </p:txBody>
      </p:sp>
      <p:sp>
        <p:nvSpPr>
          <p:cNvPr id="51" name="Text 41"/>
          <p:cNvSpPr/>
          <p:nvPr/>
        </p:nvSpPr>
        <p:spPr>
          <a:xfrm>
            <a:off x="9390888" y="4901184"/>
            <a:ext cx="243230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ML/LLM/agentic AI applied to detection, response, identity, network &amp; cloud security</a:t>
            </a:r>
            <a:endParaRPr lang="en-US" sz="1250" dirty="0"/>
          </a:p>
        </p:txBody>
      </p:sp>
      <p:sp>
        <p:nvSpPr>
          <p:cNvPr id="52" name="Text 4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five-step analytical pipeline applied to the full 635-record export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3677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431" y="1745407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90472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Data source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251960" y="1472184"/>
            <a:ext cx="7269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Patent-database export 'IPCyberPatentWithAgenticAIExport' (30 Jun 2026): 18 fields per record covering bibliography, abstract, first/independent claims, IPC/CPC codes and citation counts.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502920" y="2459736"/>
            <a:ext cx="11155680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679192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31" y="2787823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32888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Cleaning &amp; normalisation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251960" y="2514600"/>
            <a:ext cx="7269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zero duplicate publication/application numbers; parsed dates; consolidated 41 legal entities into 29 corporate groups (e.g., IBM ×5 entities; Zscaler + Avalor; NVIDIA + Mellanox; SentinelOne + Sentinel Labs).</a:t>
            </a:r>
            <a:endParaRPr lang="en-US" sz="1280" dirty="0"/>
          </a:p>
        </p:txBody>
      </p:sp>
      <p:sp>
        <p:nvSpPr>
          <p:cNvPr id="14" name="Shape 10"/>
          <p:cNvSpPr/>
          <p:nvPr/>
        </p:nvSpPr>
        <p:spPr>
          <a:xfrm>
            <a:off x="502920" y="3502152"/>
            <a:ext cx="11155680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5800" y="3721608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31" y="3830239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575304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Categorisation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4251960" y="3557016"/>
            <a:ext cx="7269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taxonomy: every record scored against 10 category keyword sets over title (3× weight), abstract, first claim and CPC codes; highest score assigns the category; ML-generic residue mapped by CPC context.</a:t>
            </a:r>
            <a:endParaRPr lang="en-US" sz="1280" dirty="0"/>
          </a:p>
        </p:txBody>
      </p:sp>
      <p:sp>
        <p:nvSpPr>
          <p:cNvPr id="19" name="Shape 14"/>
          <p:cNvSpPr/>
          <p:nvPr/>
        </p:nvSpPr>
        <p:spPr>
          <a:xfrm>
            <a:off x="502920" y="4544568"/>
            <a:ext cx="11155680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4764024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431" y="4872655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461772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Derived indicators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4251960" y="4599432"/>
            <a:ext cx="7269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status inferred from kind codes; filing recency (% filed 2024+), technology diversity, and citation intensity computed per assignee and per category.</a:t>
            </a:r>
            <a:endParaRPr lang="en-US" sz="1280" dirty="0"/>
          </a:p>
        </p:txBody>
      </p:sp>
      <p:sp>
        <p:nvSpPr>
          <p:cNvPr id="24" name="Shape 18"/>
          <p:cNvSpPr/>
          <p:nvPr/>
        </p:nvSpPr>
        <p:spPr>
          <a:xfrm>
            <a:off x="502920" y="5586984"/>
            <a:ext cx="11155680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" y="5806440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31" y="5915071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660136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Visualisation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251960" y="5641848"/>
            <a:ext cx="7269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chart is generated directly from the dataset; counts and percentages reconcile to the 635-record base. No external market data introduced.</a:t>
            </a:r>
            <a:endParaRPr lang="en-US" sz="1280" dirty="0"/>
          </a:p>
        </p:txBody>
      </p:sp>
      <p:sp>
        <p:nvSpPr>
          <p:cNvPr id="29" name="Text 2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Taxonomy — 10 Categories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Derived from titles, abstracts, first claims and CPC codes of all 635 records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591056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567" y="1699687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42646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Detection &amp; Behavioral Analytics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122 patents (19.2%)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52728" y="178308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ML/graph analytics detecting attacks, anomalies and user/entity behaviour (UEBA, XDR, SIEM)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0216" y="1591056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847" y="1699687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2008" y="142646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&amp; Traffic Security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patents (15.4%)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22008" y="178308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Traffic inspection, firewalls, DNS analytics, intrusion prevention, SASE and SDN security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242316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" y="264261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67" y="2751247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52728" y="247802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Policy, Posture &amp; Platform Mgmt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81 patents (12.8%)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52728" y="283464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 generation, posture control, configuration, orchestration and security platforms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242316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0216" y="264261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847" y="2751247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22008" y="247802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Identity, Access &amp; Zero Trust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 patents (12.6%)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22008" y="283464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Authentication, credentials, privileged access and zero-trust connectivity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02920" y="347472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0936" y="369417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567" y="3802807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52728" y="352958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&amp; GenAI Security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 patents (12.1%)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252728" y="388620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Securing and using LLMs: prompt-injection defence, GenAI-assisted analysis, model guardrails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72200" y="347472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0216" y="369417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847" y="3802807"/>
            <a:ext cx="276515" cy="2765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22008" y="352958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Vulnerability, Risk &amp; Exposure Mgmt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 patents (9.3%)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922008" y="388620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Vulnerability assessment, risk scoring, attack-surface and exposure management, pen-testing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02920" y="452628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0936" y="474573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567" y="4854367"/>
            <a:ext cx="276515" cy="27651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52728" y="458114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Malware, Ransomware &amp; Phishing Defense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 patents (7.1%)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252728" y="493776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Malicious file/URL/email detection, ransomware mitigation, code-signature generation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6172200" y="452628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300216" y="474573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8847" y="4854367"/>
            <a:ext cx="276515" cy="27651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922008" y="458114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 AI &amp; SecOps Automation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 patents (6.1%)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6922008" y="493776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agents, copilots and automated incident response / SOC workflow orchestration</a:t>
            </a:r>
            <a:endParaRPr lang="en-US" sz="1150" dirty="0"/>
          </a:p>
        </p:txBody>
      </p:sp>
      <p:sp>
        <p:nvSpPr>
          <p:cNvPr id="44" name="Shape 34"/>
          <p:cNvSpPr/>
          <p:nvPr/>
        </p:nvSpPr>
        <p:spPr>
          <a:xfrm>
            <a:off x="502920" y="557784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630936" y="579729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567" y="5905927"/>
            <a:ext cx="276515" cy="276515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1252728" y="563270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Data, Cloud &amp; Application Security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patents (4.7%)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1252728" y="598932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protection, encryption, cloud workload, CI/CD and application security</a:t>
            </a:r>
            <a:endParaRPr lang="en-US" sz="1150" dirty="0"/>
          </a:p>
        </p:txBody>
      </p:sp>
      <p:sp>
        <p:nvSpPr>
          <p:cNvPr id="49" name="Shape 38"/>
          <p:cNvSpPr/>
          <p:nvPr/>
        </p:nvSpPr>
        <p:spPr>
          <a:xfrm>
            <a:off x="6172200" y="5577840"/>
            <a:ext cx="5468112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0" name="Shape 39"/>
          <p:cNvSpPr/>
          <p:nvPr/>
        </p:nvSpPr>
        <p:spPr>
          <a:xfrm>
            <a:off x="6300216" y="5797296"/>
            <a:ext cx="493776" cy="49377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8847" y="5905927"/>
            <a:ext cx="276515" cy="276515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6922008" y="5632704"/>
            <a:ext cx="4599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ML &amp; Model Protection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patents (0.6%)</a:t>
            </a:r>
            <a:endParaRPr lang="en-US" sz="1350" dirty="0"/>
          </a:p>
        </p:txBody>
      </p:sp>
      <p:sp>
        <p:nvSpPr>
          <p:cNvPr id="53" name="Text 41"/>
          <p:cNvSpPr/>
          <p:nvPr/>
        </p:nvSpPr>
        <p:spPr>
          <a:xfrm>
            <a:off x="6922008" y="5989320"/>
            <a:ext cx="45994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Defending AI models: adversarial attacks, poisoning, model provenance and assessment</a:t>
            </a:r>
            <a:endParaRPr lang="en-US" sz="1150" dirty="0"/>
          </a:p>
        </p:txBody>
      </p:sp>
      <p:sp>
        <p:nvSpPr>
          <p:cNvPr id="54" name="Text 4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Category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and network security dominate; AI-model protection is nearly absent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78638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371600"/>
            <a:ext cx="3017520" cy="4937760"/>
          </a:xfrm>
          <a:prstGeom prst="roundRect">
            <a:avLst>
              <a:gd name="adj" fmla="val 21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796528" y="151790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Share of 635 patents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96528" y="1920240"/>
          <a:ext cx="2724912" cy="914400"/>
        </p:xfrm>
        <a:graphic>
          <a:graphicData uri="http://schemas.openxmlformats.org/drawingml/2006/table">
            <a:tbl>
              <a:tblPr/>
              <a:tblGrid>
                <a:gridCol w="2084832"/>
                <a:gridCol w="640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Threat Detection &amp; Analytics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19.2%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 &amp; Traffic Security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15.4%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Policy, Posture &amp; Platform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12.8%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Identity &amp; Zero Trust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12.6%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LLM &amp; GenAI Security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12.1%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Vulnerability &amp; Risk Mgmt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9.3%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Malware &amp; Phishing Defense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7.1%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Agentic AI &amp; SecOps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6.1%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Data, Cloud &amp; App Security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4.7%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Adversarial ML Protection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Category Share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balanced core of six mid-size categories around two detection-centric anchors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658368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084832" y="32461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635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84832" y="37673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patents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0" y="1554480"/>
            <a:ext cx="4343400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164592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anchors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498080" y="201168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Detection &amp; Analytics (19.2%) and Network &amp; Traffic Security (15.4%) form over a third of the landscape — AI is being applied first where telemetry is richest.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0" y="3200400"/>
            <a:ext cx="4343400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3291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Balanced middle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498080" y="365760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Policy/Posture, Identity &amp; Zero Trust, and LLM &amp; GenAI Security each hold 12–13%, showing platform vendors patenting across the full security stack.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4846320"/>
            <a:ext cx="4343400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498080" y="49377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Thin tail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498080" y="5303520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 AI &amp; SecOps (6.1%), Data/Cloud (4.7%) and Adversarial ML (0.6%) remain small — the newest concepts with the shortest filing history.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Growth Trend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&amp; GenAI Security is the standout mover: 11 → 54 filings from 2023 to 2024 (+391%)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7772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554480"/>
            <a:ext cx="3108960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86800" y="1682496"/>
            <a:ext cx="402336" cy="40233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5314" y="1771010"/>
            <a:ext cx="225308" cy="2253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62288" y="164592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security surge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686800" y="2121408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2024 spike (54 filings) coincides with enterprise GenAI adoption; 85.7% of the category was filed 2024 or later.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8549640" y="3182112"/>
            <a:ext cx="3108960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686800" y="3310128"/>
            <a:ext cx="402336" cy="40233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14" y="3398642"/>
            <a:ext cx="225308" cy="2253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62288" y="3273552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keeps compounding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686800" y="374904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Detection &amp; Analytics grew 36 → 49 and still leads in 2025 publications-to-date (36).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8549640" y="4809744"/>
            <a:ext cx="3108960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0" y="4937760"/>
            <a:ext cx="402336" cy="40233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5314" y="5026274"/>
            <a:ext cx="225308" cy="2253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62288" y="4901184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cooling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686800" y="537667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&amp; Zero Trust fell from 42 (2023) to 28 (2024) — the one large category losing filing share.</a:t>
            </a:r>
            <a:endParaRPr lang="en-US" sz="1080" dirty="0"/>
          </a:p>
        </p:txBody>
      </p:sp>
      <p:sp>
        <p:nvSpPr>
          <p:cNvPr id="20" name="Text 14"/>
          <p:cNvSpPr/>
          <p:nvPr/>
        </p:nvSpPr>
        <p:spPr>
          <a:xfrm>
            <a:off x="50292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*2025–26 understated by 18-month publication lag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Patent Filing &amp; Publication Trends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 up 36% YoY into 2024; grants are now flowing through at scale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7772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554480"/>
            <a:ext cx="3108960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0" y="16642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+36%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686800" y="2176272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 growth 2023 → 2024 (220 → 299)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549640" y="3182112"/>
            <a:ext cx="3108960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0" y="3291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686800" y="3803904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Publications peaked in 2025; 244 already in H1 2026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49640" y="4809744"/>
            <a:ext cx="3108960" cy="1463040"/>
          </a:xfrm>
          <a:prstGeom prst="roundRect">
            <a:avLst>
              <a:gd name="adj" fmla="val 4375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0" y="491947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27.7%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686800" y="5431536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 rate to date — rapid US allowance for AI-security claims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*Partial year; applications filed 2025–26 remain largely unpublished (18-month lag)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15 Patent Assignees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vendors above 45 patents each; the top three hold ~48% of the dataset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25880"/>
          <a:ext cx="8229600" cy="5074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915400" y="1463040"/>
            <a:ext cx="2743200" cy="1170432"/>
          </a:xfrm>
          <a:prstGeom prst="roundRect">
            <a:avLst>
              <a:gd name="adj" fmla="val 5469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052560" y="153619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Zscaler — 114 (18.0%)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9052560" y="192024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Includes Avalor (acquired 2024); zero-trust exchange and posture management core.</a:t>
            </a:r>
            <a:endParaRPr lang="en-US" sz="1060" dirty="0"/>
          </a:p>
        </p:txBody>
      </p:sp>
      <p:sp>
        <p:nvSpPr>
          <p:cNvPr id="8" name="Shape 5"/>
          <p:cNvSpPr/>
          <p:nvPr/>
        </p:nvSpPr>
        <p:spPr>
          <a:xfrm>
            <a:off x="8915400" y="2743200"/>
            <a:ext cx="2743200" cy="1170432"/>
          </a:xfrm>
          <a:prstGeom prst="roundRect">
            <a:avLst>
              <a:gd name="adj" fmla="val 5469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052560" y="281635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— 98 (15.4%)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052560" y="320040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Broadest portfolio: 9 of 10 categories, strong Security-Copilot-era LLM filings.</a:t>
            </a:r>
            <a:endParaRPr lang="en-US" sz="1060" dirty="0"/>
          </a:p>
        </p:txBody>
      </p:sp>
      <p:sp>
        <p:nvSpPr>
          <p:cNvPr id="11" name="Shape 8"/>
          <p:cNvSpPr/>
          <p:nvPr/>
        </p:nvSpPr>
        <p:spPr>
          <a:xfrm>
            <a:off x="8915400" y="4023360"/>
            <a:ext cx="2743200" cy="1170432"/>
          </a:xfrm>
          <a:prstGeom prst="roundRect">
            <a:avLst>
              <a:gd name="adj" fmla="val 5469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052560" y="409651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Cisco — 92 (14.5%)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052560" y="448056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+ network security; includes Robust Intelligence AI-safety line.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8915400" y="5303520"/>
            <a:ext cx="2743200" cy="1170432"/>
          </a:xfrm>
          <a:prstGeom prst="roundRect">
            <a:avLst>
              <a:gd name="adj" fmla="val 5469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052560" y="5376672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Concentration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052560" y="576072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3 = 304 patents (47.9%); top 6 = 486 (76.5%) — a highly consolidated field.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Assignee × Technology Concentration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Distinct strategic footprints: Zscaler in zero-trust/policy, Microsoft &amp; Cisco in LLM security</a:t>
            </a:r>
            <a:endParaRPr lang="en-US" sz="1600" dirty="0"/>
          </a:p>
        </p:txBody>
      </p:sp>
      <p:pic>
        <p:nvPicPr>
          <p:cNvPr id="4" name="Image 0" descr="charts/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25880"/>
            <a:ext cx="11338560" cy="5166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Geographic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US-centric landscape: 78% of publications; international coverage remains thin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758952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554480"/>
            <a:ext cx="3291840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0" y="1691640"/>
            <a:ext cx="420624" cy="420624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6457" y="1784177"/>
            <a:ext cx="235549" cy="23554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15984" y="164592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 first, often US only</a:t>
            </a:r>
            <a:endParaRPr lang="en-US" sz="1280" dirty="0"/>
          </a:p>
        </p:txBody>
      </p:sp>
      <p:sp>
        <p:nvSpPr>
          <p:cNvPr id="9" name="Text 5"/>
          <p:cNvSpPr/>
          <p:nvPr/>
        </p:nvSpPr>
        <p:spPr>
          <a:xfrm>
            <a:off x="8503920" y="2157984"/>
            <a:ext cx="29992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496 of 635 publications (78.1%) are US filings — consistent with US-headquartered assignees protecting the home market first.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8366760" y="3200400"/>
            <a:ext cx="3291840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503920" y="3337560"/>
            <a:ext cx="420624" cy="420624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6457" y="3430097"/>
            <a:ext cx="235549" cy="2355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15984" y="329184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PCT pipeline</a:t>
            </a:r>
            <a:endParaRPr lang="en-US" sz="1280" dirty="0"/>
          </a:p>
        </p:txBody>
      </p:sp>
      <p:sp>
        <p:nvSpPr>
          <p:cNvPr id="14" name="Text 9"/>
          <p:cNvSpPr/>
          <p:nvPr/>
        </p:nvSpPr>
        <p:spPr>
          <a:xfrm>
            <a:off x="8503920" y="3803904"/>
            <a:ext cx="29992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 WO applications (8.5%) signal pending international expansion, mostly from Cisco, Microsoft and IBM.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8366760" y="4846320"/>
            <a:ext cx="3291840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503920" y="4983480"/>
            <a:ext cx="420624" cy="420624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6457" y="5076017"/>
            <a:ext cx="235549" cy="2355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15984" y="4937760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Asia underweight</a:t>
            </a:r>
            <a:endParaRPr lang="en-US" sz="1280" dirty="0"/>
          </a:p>
        </p:txBody>
      </p:sp>
      <p:sp>
        <p:nvSpPr>
          <p:cNvPr id="19" name="Text 13"/>
          <p:cNvSpPr/>
          <p:nvPr/>
        </p:nvSpPr>
        <p:spPr>
          <a:xfrm>
            <a:off x="8503920" y="5449824"/>
            <a:ext cx="29992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 (18), China (16), Japan (4) and Korea (4) combined are under 7% — foreign filing in growth markets is a visible gap.</a:t>
            </a:r>
            <a:endParaRPr lang="en-US" sz="1080" dirty="0"/>
          </a:p>
        </p:txBody>
      </p:sp>
      <p:sp>
        <p:nvSpPr>
          <p:cNvPr id="20" name="Text 14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IPC / CPC Classification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H04L63 (network security) and G06F21 (platform security) dominate, fused with G06N (ML)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57607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0" y="1371600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H04L63/1425 —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monitoring &amp; traffic analysis for intrusion detection — the single most-used code (153).</a:t>
            </a:r>
            <a:endParaRPr lang="en-US" sz="1230" dirty="0"/>
          </a:p>
        </p:txBody>
      </p:sp>
      <p:sp>
        <p:nvSpPr>
          <p:cNvPr id="6" name="Text 3"/>
          <p:cNvSpPr/>
          <p:nvPr/>
        </p:nvSpPr>
        <p:spPr>
          <a:xfrm>
            <a:off x="6400800" y="1975104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H04L63/1416 —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attack detection by monitoring network events (123).</a:t>
            </a:r>
            <a:endParaRPr lang="en-US" sz="1230" dirty="0"/>
          </a:p>
        </p:txBody>
      </p:sp>
      <p:sp>
        <p:nvSpPr>
          <p:cNvPr id="7" name="Text 4"/>
          <p:cNvSpPr/>
          <p:nvPr/>
        </p:nvSpPr>
        <p:spPr>
          <a:xfrm>
            <a:off x="6400800" y="2578608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H04L63/20 —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Management of network security policies (112).</a:t>
            </a:r>
            <a:endParaRPr lang="en-US" sz="1230" dirty="0"/>
          </a:p>
        </p:txBody>
      </p:sp>
      <p:sp>
        <p:nvSpPr>
          <p:cNvPr id="8" name="Text 5"/>
          <p:cNvSpPr/>
          <p:nvPr/>
        </p:nvSpPr>
        <p:spPr>
          <a:xfrm>
            <a:off x="6400800" y="3182112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H04L63/1433 —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Vulnerability analysis / penetration assessment of networks (110).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6400800" y="3785616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G06F21/577 —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Assessing vulnerabilities of a computing platform (87).</a:t>
            </a:r>
            <a:endParaRPr lang="en-US" sz="1230" dirty="0"/>
          </a:p>
        </p:txBody>
      </p:sp>
      <p:sp>
        <p:nvSpPr>
          <p:cNvPr id="10" name="Text 7"/>
          <p:cNvSpPr/>
          <p:nvPr/>
        </p:nvSpPr>
        <p:spPr>
          <a:xfrm>
            <a:off x="6400800" y="4389120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G06N20/00 —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per se — the AI backbone tag (87).</a:t>
            </a:r>
            <a:endParaRPr lang="en-US" sz="1230" dirty="0"/>
          </a:p>
        </p:txBody>
      </p:sp>
      <p:sp>
        <p:nvSpPr>
          <p:cNvPr id="11" name="Text 8"/>
          <p:cNvSpPr/>
          <p:nvPr/>
        </p:nvSpPr>
        <p:spPr>
          <a:xfrm>
            <a:off x="6400800" y="4992624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G06F21/552 / 554 —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intrusion &amp; anomaly detection via activity/event monitoring (66 / 85).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6400800" y="5596128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b="1" dirty="0">
                <a:solidFill>
                  <a:srgbClr val="2E5FA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H04L63/1441 —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Countermeasures and attack mitigation (61).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400800" y="6263640"/>
            <a:ext cx="5257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Subclass view: H04L (network security) leads 297 first-position records; G06F (computing security) 262; G06N (AI/ML) 27 — nearly every record pairs a security code with an ML code.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Status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young portfolio: nearly two-thirds still pre-grant, reflecting 2023–24 filing surge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0350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45920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059168" y="1810512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1911096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35240" y="1737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405  </a:t>
            </a:r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Published applications (63.8%)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635240" y="2249424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National/regional pre-grant publications under examination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903720" y="3182112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059168" y="3346704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3447288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35240" y="3273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176  </a:t>
            </a:r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Granted (27.7%)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7635240" y="3785616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170 US patents + 6 EP B-publications already enforceable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903720" y="4718304"/>
            <a:ext cx="4754880" cy="1371600"/>
          </a:xfrm>
          <a:prstGeom prst="roundRect">
            <a:avLst>
              <a:gd name="adj" fmla="val 466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59168" y="4882896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498348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35240" y="4809744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54  </a:t>
            </a:r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PCT applications (8.5%)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7635240" y="532180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 publications preserving worldwide filing options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Status inferred from publication kind codes; expired/withdrawn cases cannot be identified from this export.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Quarterly Filing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Steady escalation through 2024 Q4 peak of 83 applications</a:t>
            </a:r>
            <a:endParaRPr lang="en-US" sz="1600" dirty="0"/>
          </a:p>
        </p:txBody>
      </p:sp>
      <p:pic>
        <p:nvPicPr>
          <p:cNvPr id="4" name="Image 0" descr="charts/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Priority-date tail: 101 records claim priority before 2023 (earliest Aug 2015) — continuation chains carrying older invention dates into the current wave.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Applicants Over Time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CrowdStrike nearly tripled filings into 2024; Zscaler led both 2023 and 2024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417320"/>
          <a:ext cx="7863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600200"/>
            <a:ext cx="3017520" cy="1444752"/>
          </a:xfrm>
          <a:prstGeom prst="roundRect">
            <a:avLst>
              <a:gd name="adj" fmla="val 443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78240" y="1728216"/>
            <a:ext cx="402336" cy="40233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754" y="1816730"/>
            <a:ext cx="225308" cy="2253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53728" y="17099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CrowdStrike +193%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778240" y="216712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→ 41 applications 2023 → 2024 — the fastest organic growth among leaders.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8641080" y="3209544"/>
            <a:ext cx="3017520" cy="1444752"/>
          </a:xfrm>
          <a:prstGeom prst="roundRect">
            <a:avLst>
              <a:gd name="adj" fmla="val 443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778240" y="3337560"/>
            <a:ext cx="402336" cy="40233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754" y="3426074"/>
            <a:ext cx="225308" cy="2253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53728" y="33192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+50%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778240" y="3776472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 → 48; heaviest 2024 filer alongside Zscaler (49).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8641080" y="4818888"/>
            <a:ext cx="3017520" cy="1444752"/>
          </a:xfrm>
          <a:prstGeom prst="roundRect">
            <a:avLst>
              <a:gd name="adj" fmla="val 443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778240" y="4946904"/>
            <a:ext cx="402336" cy="402336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6754" y="5035418"/>
            <a:ext cx="225308" cy="2253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53728" y="49286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Cisco steady-state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778240" y="5385816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 → 37 → 16*; consistent volume with the largest 2025 pipeline visible so far.</a:t>
            </a:r>
            <a:endParaRPr lang="en-US" sz="1080" dirty="0"/>
          </a:p>
        </p:txBody>
      </p:sp>
      <p:sp>
        <p:nvSpPr>
          <p:cNvPr id="20" name="Text 14"/>
          <p:cNvSpPr/>
          <p:nvPr/>
        </p:nvSpPr>
        <p:spPr>
          <a:xfrm>
            <a:off x="5029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*Partial-year data (publication lag)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Competition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vs. breadth: leaders combine 60+ patents with coverage of 9–10 categories</a:t>
            </a:r>
            <a:endParaRPr lang="en-US" sz="1600" dirty="0"/>
          </a:p>
        </p:txBody>
      </p:sp>
      <p:pic>
        <p:nvPicPr>
          <p:cNvPr id="4" name="Image 0" descr="charts/compet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069848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Evolution, 2023 –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filing mix is rotating toward LLM security and detection analytics</a:t>
            </a:r>
            <a:endParaRPr lang="en-US" sz="1600" dirty="0"/>
          </a:p>
        </p:txBody>
      </p:sp>
      <p:pic>
        <p:nvPicPr>
          <p:cNvPr id="4" name="Image 0" descr="charts/ev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1124712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&amp; GenAI Security grew from 5% of 2023 filings to 18% of 2024 filings; Identity &amp; Zero Trust contracted from 19% to 9% over the same period.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Keyword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'Machine learning' (157), 'artificial intelligence' (96) and 'large language model' pervade titles &amp; abstracts</a:t>
            </a:r>
            <a:endParaRPr lang="en-US" sz="1600" dirty="0"/>
          </a:p>
        </p:txBody>
      </p:sp>
      <p:pic>
        <p:nvPicPr>
          <p:cNvPr id="4" name="Image 0" descr="charts/word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7452360" cy="3520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325880"/>
            <a:ext cx="3520440" cy="5074920"/>
          </a:xfrm>
          <a:prstGeom prst="roundRect">
            <a:avLst>
              <a:gd name="adj" fmla="val 1818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39328" y="144475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technical phrases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39328" y="1847088"/>
          <a:ext cx="32004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731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Phrase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Freq.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machine learning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artificial intelligence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 traffic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learning model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language model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large language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natural language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computing environment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 score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anomaly detection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5029200"/>
            <a:ext cx="7406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shift: 'large language model', 'natural language' and 'source code' now rank alongside classic terms like 'network traffic' and 'anomaly detection' — evidence that GenAI concepts have entered mainstream claim drafting. Full top-30 keyword table in the appendix.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Emerging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themes show the filing acceleration and vocabulary growth of genuine emergence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55680" cy="16002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73352"/>
            <a:ext cx="566928" cy="566928"/>
          </a:xfrm>
          <a:prstGeom prst="ellipse">
            <a:avLst/>
          </a:prstGeom>
          <a:solidFill>
            <a:srgbClr val="C55A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956" y="17980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50876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&amp; GenAI Security   </a:t>
            </a:r>
            <a:pPr indent="0" marL="0">
              <a:buNone/>
            </a:pPr>
            <a:r>
              <a:rPr lang="en-US" sz="130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77 patents · 85.7% filed 2024+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81328" y="1929384"/>
            <a:ext cx="10012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Filings exploded from 11 (2023) to 54 (2024) — +391%. Covers prompt-injection defence, evasive-prompt detection, LLM-assisted triage and guardrails. 'Large language model' now appears 71+ times across abstracts. Every top-6 vendor is active; Palo Alto Networks (22) leads, ahead of Microsoft (14) and Cisco (10).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502920" y="3154680"/>
            <a:ext cx="11155680" cy="16002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13232" y="3410712"/>
            <a:ext cx="566928" cy="566928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56" y="353543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81328" y="324612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 AI &amp; SecOps Automation   </a:t>
            </a:r>
            <a:pPr indent="0" marL="0">
              <a:buNone/>
            </a:pPr>
            <a:r>
              <a:rPr lang="en-US" sz="130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 patents · 71.8% filed 2024+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481328" y="3666744"/>
            <a:ext cx="10012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agents that investigate, decide and remediate autonomously: agent orchestration, copilots, automated incident response. Filings grew 11 → 19 into 2024. Early and unconsolidated — no vendor holds more than 9 — leaving room for foundational claims.</a:t>
            </a:r>
            <a:endParaRPr lang="en-US" sz="1260" dirty="0"/>
          </a:p>
        </p:txBody>
      </p:sp>
      <p:sp>
        <p:nvSpPr>
          <p:cNvPr id="14" name="Shape 10"/>
          <p:cNvSpPr/>
          <p:nvPr/>
        </p:nvSpPr>
        <p:spPr>
          <a:xfrm>
            <a:off x="502920" y="4892040"/>
            <a:ext cx="11155680" cy="1600200"/>
          </a:xfrm>
          <a:prstGeom prst="roundRect">
            <a:avLst>
              <a:gd name="adj" fmla="val 40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5148072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" y="527279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81328" y="4983480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ML &amp; Model Protection   </a:t>
            </a:r>
            <a:pPr indent="0" marL="0">
              <a:buNone/>
            </a:pPr>
            <a:r>
              <a:rPr lang="en-US" sz="130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patents · 75% filed 2024+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481328" y="5404104"/>
            <a:ext cx="10012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Protecting the AI itself: adversarial-attack prevention (CyberArk), model provenance and AI/ML model assessment (CrowdStrike). CPC and keyword signals confirm demand, yet filing density is near zero — emergence at its earliest stage.</a:t>
            </a:r>
            <a:endParaRPr lang="en-US" sz="1260" dirty="0"/>
          </a:p>
        </p:txBody>
      </p:sp>
      <p:sp>
        <p:nvSpPr>
          <p:cNvPr id="19" name="Text 14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Innovation Hotspots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Volume × recency × citation impact identifies where R&amp;D energy is concentrating</a:t>
            </a:r>
            <a:endParaRPr lang="en-US" sz="1600" dirty="0"/>
          </a:p>
        </p:txBody>
      </p:sp>
      <p:pic>
        <p:nvPicPr>
          <p:cNvPr id="4" name="Image 0" descr="charts/hotsp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069848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 Space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 patent density + rising demand = filing opportunity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00200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166" y="1712854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1527048"/>
            <a:ext cx="4507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ML &amp; Model Protection</a:t>
            </a:r>
            <a:endParaRPr lang="en-US" sz="1450" dirty="0"/>
          </a:p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patents (0.6%)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51023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models are becoming the attack surface (poisoning, evasion, theft), yet only CrowdStrike holds classified filings here. Foundational claims on model-integrity verification, poisoning detection and secure model supply chains remain available.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1600200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446" y="1712854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76872" y="1527048"/>
            <a:ext cx="4507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Agentic-AI Guardrails &amp; Governance</a:t>
            </a:r>
            <a:endParaRPr lang="en-US" sz="1450" dirty="0"/>
          </a:p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Sub-segment of 39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355080" y="2286000"/>
            <a:ext cx="51023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patents cover orchestration and response, but almost none claim safety controls for the agents themselves — permissioning, action authorisation, rollback, audit of autonomous decisions. A predictable regulatory pull is unpatented.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" y="4114800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6" y="422745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07592" y="4041648"/>
            <a:ext cx="4507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Security for Data &amp; Cloud Pipelines</a:t>
            </a:r>
            <a:endParaRPr lang="en-US" sz="1450" dirty="0"/>
          </a:p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patents, declining (16→7)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85800" y="4800600"/>
            <a:ext cx="51023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Data/cloud AI security filings halved 2023 → 2024 while CI/CD and model-training-data protection needs grew — competitors are looking elsewhere precisely where enterprise exposure is rising.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4114800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46" y="422745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76872" y="4041648"/>
            <a:ext cx="45079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Non-US Jurisdictions</a:t>
            </a:r>
            <a:endParaRPr lang="en-US" sz="1450" dirty="0"/>
          </a:p>
          <a:p>
            <a:pPr indent="0" marL="0">
              <a:buNone/>
            </a:pPr>
            <a:r>
              <a:rPr lang="en-US" sz="120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139 non-US publications (21.9%)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355080" y="4800600"/>
            <a:ext cx="5102352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India (18) and China (16) coverage is minimal across all assignees. Whoever files AI-security claims in high-growth Asian markets faces limited blocking art from this cohort.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Patent Quality — Citation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 but meaningful signal: 170 records already cited by later filings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49377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371600"/>
            <a:ext cx="6035040" cy="877824"/>
          </a:xfrm>
          <a:prstGeom prst="roundRect">
            <a:avLst>
              <a:gd name="adj" fmla="val 7292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79008" y="1426464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US20240403437  (19 citations) —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Cisco: </a:t>
            </a:r>
            <a:pPr indent="0" marL="0">
              <a:buNone/>
            </a:pPr>
            <a:r>
              <a:rPr lang="en-US" sz="1150" i="1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External api vulnerability assessments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623560" y="2340864"/>
            <a:ext cx="6035040" cy="877824"/>
          </a:xfrm>
          <a:prstGeom prst="roundRect">
            <a:avLst>
              <a:gd name="adj" fmla="val 7292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79008" y="2395728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US20240244070  (14 citations) —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VMware: </a:t>
            </a:r>
            <a:pPr indent="0" marL="0">
              <a:buNone/>
            </a:pPr>
            <a:r>
              <a:rPr lang="en-US" sz="1150" i="1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Machine learning based network anomaly detection system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23560" y="3310128"/>
            <a:ext cx="6035040" cy="877824"/>
          </a:xfrm>
          <a:prstGeom prst="roundRect">
            <a:avLst>
              <a:gd name="adj" fmla="val 7292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79008" y="3364992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US20240291846  (11 citations) —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Zscaler (incl. Avalor): </a:t>
            </a:r>
            <a:pPr indent="0" marL="0">
              <a:buNone/>
            </a:pPr>
            <a:r>
              <a:rPr lang="en-US" sz="1150" i="1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Posture control for cloud environments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623560" y="4279392"/>
            <a:ext cx="6035040" cy="877824"/>
          </a:xfrm>
          <a:prstGeom prst="roundRect">
            <a:avLst>
              <a:gd name="adj" fmla="val 7292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79008" y="4334256"/>
            <a:ext cx="57607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US20240129323  (11 citations) — </a:t>
            </a:r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Microsoft: </a:t>
            </a:r>
            <a:pPr indent="0" marL="0">
              <a:buNone/>
            </a:pPr>
            <a:r>
              <a:rPr lang="en-US" sz="1150" i="1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Multitenant sharing anomaly cyberattack campaign detection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79008" y="525780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Portfolio-level view: </a:t>
            </a:r>
            <a:pPr indent="0" marL="0">
              <a:buNone/>
            </a:pPr>
            <a:r>
              <a:rPr lang="en-US" sz="12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484 forward citations across the dataset; 26.8% of records already cited. Backward citations average 14.8 per record (9,399 total), indicating dense prior-art fields. Cisco's API-vulnerability filing (19 cites in ~3 years) is the early influence leader.</a:t>
            </a:r>
            <a:endParaRPr lang="en-US" sz="1230" dirty="0"/>
          </a:p>
        </p:txBody>
      </p:sp>
      <p:sp>
        <p:nvSpPr>
          <p:cNvPr id="14" name="Text 11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20 Important Patents (1 of 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Ranked by composite of forward citations, grant status and recency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325880"/>
                <a:gridCol w="4069080"/>
                <a:gridCol w="1234440"/>
                <a:gridCol w="548640"/>
                <a:gridCol w="1828800"/>
                <a:gridCol w="914400"/>
                <a:gridCol w="5486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Publication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Assignee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Filed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US20240403437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External api vulnerability assessments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Cisco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Vulnerability &amp; Risk Mgmt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US20240244070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Machine learning based network anomaly detection system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VMware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 &amp; Traffic Security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US12445474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Attack path risk mitigation by a data platform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Fortinet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Vulnerability &amp; Risk Mgmt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E7A3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Granted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US20240291846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Posture control for cloud environments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Policy, Posture &amp; Platform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US20240129323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Multitenant sharing anomaly cyberattack campaign detection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Microsoft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Threat Detection &amp; Analytics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US11876821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Combined real-time and batch threat detection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Cisco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Threat Detection &amp; Analytics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E7A3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Granted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US20250047701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Asset security and risk posture visualization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Palo Alto Networks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Policy, Posture &amp; Platform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US20240422198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Systems and methods for providing zero trust access to source applications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Identity &amp; Zero Trust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US20250317739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learning-based wireless intrusion detection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Cisco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 &amp; Traffic Security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US20240356918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Reauthentication for zero trust WebSocket connections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Identity &amp; Zero Trust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 20 Important Patents (2 of 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Granted status and citation momentum among 2023–24 filings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325880"/>
                <a:gridCol w="4069080"/>
                <a:gridCol w="1234440"/>
                <a:gridCol w="548640"/>
                <a:gridCol w="1828800"/>
                <a:gridCol w="914400"/>
                <a:gridCol w="54864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No.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Publication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Title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Assignee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Filed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Cites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US20250039235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Ai-based honeypot to mitigate social engineering cyberattack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Cisco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Threat Detection &amp; Analytics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US20240386098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Application server protection by maintaining cross-session inspection context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Policy, Posture &amp; Platform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US20240323189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 based authentication for Privileged Remote Access (PRA) systems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Identity &amp; Zero Trust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US20250133120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 policy framework for cloud environments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Policy, Posture &amp; Platform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US20250181836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Systems and methods for jailbreaking black-box large language models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Robust Intelligence Inc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LLM &amp; GenAI Security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US11811855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Policy based agentless file transfer in zero trust private networks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Identity &amp; Zero Trust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E7A3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Granted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US20250280027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 rating &amp; incident risk scoring for attack surface management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Palo Alto Networks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Vulnerability &amp; Risk Mgmt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US20250335795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Unstructured data extraction with large language models for query resolution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Palo Alto Networks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2024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LLM &amp; GenAI Security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US20250159024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Systems and methods for abnormal Classless Inter-Domain Routing (CIDR) access detection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 &amp; Traffic Security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Published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2E5FA3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US12074906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and method for ransomware early detection using a security appliance as default…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Zscaler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2023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8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 &amp; Traffic Security</a:t>
                      </a:r>
                      <a:endParaRPr lang="en-US" sz="9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dirty="0">
                          <a:solidFill>
                            <a:srgbClr val="1E7A3C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Granted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8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08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Company Strategy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strategic postures visible in the filing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600200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166" y="1712854"/>
            <a:ext cx="286756" cy="286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07592" y="1527048"/>
            <a:ext cx="4507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Leaders  </a:t>
            </a: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Zscaler · Microsoft · Cisco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313432"/>
            <a:ext cx="51023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48% of the dataset. Zscaler concentrates on zero-trust/posture (platform moat); Microsoft files broadly across 9 categories with the deepest LLM-security bench; Cisco pairs network detection with acquired AI-safety capability (Robust Intelligence).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1600200"/>
            <a:ext cx="512064" cy="512064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446" y="1712854"/>
            <a:ext cx="286756" cy="286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76872" y="1527048"/>
            <a:ext cx="4507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Challengers  </a:t>
            </a: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Palo Alto Networks · CrowdStrike · Fortinet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5080" y="2313432"/>
            <a:ext cx="51023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45–69 patents each. CrowdStrike is the fastest-growing filer (+193% into 2024) and the only top-10 assignee covering all 10 categories, including adversarial ML. PANW emphasises posture visualisation; Fortinet holds cited attack-path assets.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7512" y="4114800"/>
            <a:ext cx="512064" cy="512064"/>
          </a:xfrm>
          <a:prstGeom prst="ellipse">
            <a:avLst/>
          </a:prstGeom>
          <a:solidFill>
            <a:srgbClr val="5B87C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66" y="422745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07592" y="4041648"/>
            <a:ext cx="4507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Focused specialists  </a:t>
            </a: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CyberArk · Okta · SentinelOne · Trend Micro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85800" y="4828032"/>
            <a:ext cx="51023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Narrow, deep portfolios: CyberArk's adversarial-LLM defence (16 backward cites, already cited), Okta in identity, SentinelOne in autonomous endpoint response. Attractive licensing or acquisition targets.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6172200" y="39319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4114800"/>
            <a:ext cx="512064" cy="512064"/>
          </a:xfrm>
          <a:prstGeom prst="ellipse">
            <a:avLst/>
          </a:prstGeom>
          <a:solidFill>
            <a:srgbClr val="8497B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9446" y="422745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76872" y="4041648"/>
            <a:ext cx="45079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 entrants  </a:t>
            </a:r>
            <a:endParaRPr lang="en-US" sz="1600" dirty="0"/>
          </a:p>
          <a:p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Intel · NVIDIA · Qualcomm · Arm · Google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55080" y="4828032"/>
            <a:ext cx="510235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Chip and cloud platforms securing the AI stack itself. Intel: 81% of filings 2024+, the latest fast entrant. Google/DeepMind spread across 8 categories at moderate volume.</a:t>
            </a:r>
            <a:endParaRPr lang="en-US" sz="1180" dirty="0"/>
          </a:p>
        </p:txBody>
      </p:sp>
      <p:sp>
        <p:nvSpPr>
          <p:cNvPr id="24" name="Text 18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Maturity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Positioning each category by volume and filing recency</a:t>
            </a:r>
            <a:endParaRPr lang="en-US" sz="1600" dirty="0"/>
          </a:p>
        </p:txBody>
      </p:sp>
      <p:pic>
        <p:nvPicPr>
          <p:cNvPr id="4" name="Image 0" descr="charts/matu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50392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0" y="141732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281160" y="14904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Emerging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281160" y="1819656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&amp; GenAI Security · Adversarial ML · Agentic AI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144000" y="2670048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281160" y="2743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281160" y="3072384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Threat Detection &amp; Analytics · Policy, Posture &amp; Platform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0" y="3922776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281160" y="399592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87C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Maturing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281160" y="432511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Network &amp; Traffic Security · Malware &amp; Phishing · Vulnerability &amp; Risk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44000" y="5175504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281160" y="524865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497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281160" y="557784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Identity &amp; Zero Trust · Data, Cloud &amp; App Security (recency &lt; 50%)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5532120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Reasoning: 'recency' (share of patents filed 2024+) proxies acceleration; volume proxies accumulated investment. Identity &amp; Zero Trust shows classic saturation — the largest 2023 base (42 filings) declining fastest.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Competitive Landscape — Leading Vendors Compared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Strengths and exposures of the four largest portfolios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50876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Zscaler (incl. Avalor) 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114 patents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4088" y="1947672"/>
            <a:ext cx="50657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S: Deepest zero-trust/posture moat (31 identity + 24 policy); Avalor adds risk-data fabric.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3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W: Minimal LLM-security presence (4) and no adversarial-ML filings; 78% US-only exposure.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50876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Microsoft 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 patents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373368" y="1947672"/>
            <a:ext cx="50657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S: Broadest spread (9 categories); LLM-security leader (21); strong PCT/EP usage for global reach.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3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W: Less concentrated depth per category; detection volume trails Cisco and Zscaler.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9319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" y="402336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Cisco 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92 patents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04088" y="4462272"/>
            <a:ext cx="50657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S: Detection + network core; most-cited patent in dataset (19 cites); Robust Intelligence AI-safety line.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3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W: 2024 filings flat (38→37) while rivals accelerated; light identity coverage.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931920"/>
            <a:ext cx="546811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4023360"/>
            <a:ext cx="50657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CrowdStrike   </a:t>
            </a:r>
            <a:pPr indent="0" marL="0">
              <a:buNone/>
            </a:pPr>
            <a:r>
              <a:rPr lang="en-US" sz="1250" i="1" dirty="0">
                <a:solidFill>
                  <a:srgbClr val="C55A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 patents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73368" y="4462272"/>
            <a:ext cx="5065776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7A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S: Fastest growth (+193%); only vendor in all 10 categories; unique adversarial-ML position (4).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3B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W: Smaller absolute base; portfolio too young for citation influence (grant share below peers).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Six takeaways from the 635-patent landscape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39312" cy="224028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8191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690543"/>
            <a:ext cx="276515" cy="2765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0020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Structural growth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85800" y="2194560"/>
            <a:ext cx="32735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Applications rose 36% into 2024 (220→299); the quarterly series climbed every period to the 2024 Q4 peak of 83 — AI-security patenting is in a sustained upcycle.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4306824" y="1417320"/>
            <a:ext cx="3639312" cy="224028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158191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047" y="1690543"/>
            <a:ext cx="276515" cy="2765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84064" y="160020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Consolidated leadership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489704" y="2194560"/>
            <a:ext cx="32735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Three vendors hold ~48% and six hold ~77% of all publications; new entrants face a dense, concentrated art field.</a:t>
            </a:r>
            <a:endParaRPr lang="en-US" sz="1180" dirty="0"/>
          </a:p>
        </p:txBody>
      </p:sp>
      <p:sp>
        <p:nvSpPr>
          <p:cNvPr id="14" name="Shape 10"/>
          <p:cNvSpPr/>
          <p:nvPr/>
        </p:nvSpPr>
        <p:spPr>
          <a:xfrm>
            <a:off x="8110728" y="1417320"/>
            <a:ext cx="3639312" cy="224028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58191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951" y="1690543"/>
            <a:ext cx="276515" cy="2765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87968" y="160020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GenAI rotation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93608" y="2194560"/>
            <a:ext cx="32735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&amp; GenAI Security grew from 5% to 18% of annual filings in one year, while Identity &amp; Zero Trust contracted from 19% to 9% — the growth theme has rotated.</a:t>
            </a:r>
            <a:endParaRPr lang="en-US" sz="1180" dirty="0"/>
          </a:p>
        </p:txBody>
      </p:sp>
      <p:sp>
        <p:nvSpPr>
          <p:cNvPr id="19" name="Shape 14"/>
          <p:cNvSpPr/>
          <p:nvPr/>
        </p:nvSpPr>
        <p:spPr>
          <a:xfrm>
            <a:off x="502920" y="3886200"/>
            <a:ext cx="3639312" cy="224028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" y="405079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4159423"/>
            <a:ext cx="276515" cy="2765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06908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Fastest movers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85800" y="4663440"/>
            <a:ext cx="32735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CrowdStrike (+193% filings, 10/10 categories) and Intel (81% of portfolio filed 2024+) are repositioning most aggressively.</a:t>
            </a:r>
            <a:endParaRPr lang="en-US" sz="1180" dirty="0"/>
          </a:p>
        </p:txBody>
      </p:sp>
      <p:sp>
        <p:nvSpPr>
          <p:cNvPr id="24" name="Shape 18"/>
          <p:cNvSpPr/>
          <p:nvPr/>
        </p:nvSpPr>
        <p:spPr>
          <a:xfrm>
            <a:off x="4306824" y="3886200"/>
            <a:ext cx="3639312" cy="224028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71416" y="405079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0047" y="4159423"/>
            <a:ext cx="276515" cy="2765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84064" y="406908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Geographic asymmetry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489704" y="4663440"/>
            <a:ext cx="32735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78% of publications are US; India + China + Japan + Korea together are under 7% — global enforcement coverage lags innovation.</a:t>
            </a:r>
            <a:endParaRPr lang="en-US" sz="1180" dirty="0"/>
          </a:p>
        </p:txBody>
      </p:sp>
      <p:sp>
        <p:nvSpPr>
          <p:cNvPr id="29" name="Shape 22"/>
          <p:cNvSpPr/>
          <p:nvPr/>
        </p:nvSpPr>
        <p:spPr>
          <a:xfrm>
            <a:off x="8110728" y="3886200"/>
            <a:ext cx="3639312" cy="224028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050792"/>
            <a:ext cx="493776" cy="493776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951" y="4159423"/>
            <a:ext cx="276515" cy="2765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87968" y="406908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 flank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93608" y="4663440"/>
            <a:ext cx="3273552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 ML &amp; model protection holds 4 patents against clearly rising need — the most actionable white space identified.</a:t>
            </a:r>
            <a:endParaRPr lang="en-US" sz="1180" dirty="0"/>
          </a:p>
        </p:txBody>
      </p:sp>
      <p:sp>
        <p:nvSpPr>
          <p:cNvPr id="34" name="Text 26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Actions across R&amp;D, filing strategy and corporate development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68112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536192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367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81328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R&amp;D priorities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34440" y="1847088"/>
            <a:ext cx="4553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 research toward adversarial-ML defence and agentic-AI guardrails (authorisation, audit, rollback of autonomous actions) — categories where technical need is confirmed but claim density is minimal.</a:t>
            </a:r>
            <a:endParaRPr lang="en-US" sz="1090" dirty="0"/>
          </a:p>
        </p:txBody>
      </p:sp>
      <p:sp>
        <p:nvSpPr>
          <p:cNvPr id="9" name="Shape 6"/>
          <p:cNvSpPr/>
          <p:nvPr/>
        </p:nvSpPr>
        <p:spPr>
          <a:xfrm>
            <a:off x="6172200" y="1371600"/>
            <a:ext cx="54681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18504" y="1536192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6367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481328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White-space filing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903720" y="1847088"/>
            <a:ext cx="4553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File early, broad claims in model-integrity verification, poisoning detection and agent-governance controls before the 2024–25 application cohort publishes and closes the window.</a:t>
            </a:r>
            <a:endParaRPr lang="en-US" sz="1090" dirty="0"/>
          </a:p>
        </p:txBody>
      </p:sp>
      <p:sp>
        <p:nvSpPr>
          <p:cNvPr id="14" name="Shape 10"/>
          <p:cNvSpPr/>
          <p:nvPr/>
        </p:nvSpPr>
        <p:spPr>
          <a:xfrm>
            <a:off x="502920" y="2999232"/>
            <a:ext cx="5468112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" y="3163824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644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108960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Geographic strategy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234440" y="3474720"/>
            <a:ext cx="4553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priority filings into India and China via PCT national phase; only 34 combined publications exist there from this entire cohort, limiting blocking risk.</a:t>
            </a:r>
            <a:endParaRPr lang="en-US" sz="1090" dirty="0"/>
          </a:p>
        </p:txBody>
      </p:sp>
      <p:sp>
        <p:nvSpPr>
          <p:cNvPr id="19" name="Shape 14"/>
          <p:cNvSpPr/>
          <p:nvPr/>
        </p:nvSpPr>
        <p:spPr>
          <a:xfrm>
            <a:off x="6172200" y="2999232"/>
            <a:ext cx="54681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18504" y="3163824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26440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108960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Licensing opportunities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903720" y="3474720"/>
            <a:ext cx="4553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Highly cited 2023 assets (Cisco US20240403437, VMware US20240244070, Fortinet US12445474) anchor licensing conversations in API security, network anomaly detection and attack-path analytics.</a:t>
            </a:r>
            <a:endParaRPr lang="en-US" sz="1090" dirty="0"/>
          </a:p>
        </p:txBody>
      </p:sp>
      <p:sp>
        <p:nvSpPr>
          <p:cNvPr id="24" name="Shape 18"/>
          <p:cNvSpPr/>
          <p:nvPr/>
        </p:nvSpPr>
        <p:spPr>
          <a:xfrm>
            <a:off x="502920" y="4626864"/>
            <a:ext cx="5468112" cy="1481328"/>
          </a:xfrm>
          <a:prstGeom prst="roundRect">
            <a:avLst>
              <a:gd name="adj" fmla="val 4321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9224" y="4791456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9204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736592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Collaboration &amp; monitoring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234440" y="5102352"/>
            <a:ext cx="4553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 CrowdStrike (fastest growth, broadest coverage) and Intel (late surge) quarterly; partner with focused specialists (CyberArk, SentinelOne) whose deep-but-narrow portfolios complement platform gaps.</a:t>
            </a:r>
            <a:endParaRPr lang="en-US" sz="1090" dirty="0"/>
          </a:p>
        </p:txBody>
      </p:sp>
      <p:sp>
        <p:nvSpPr>
          <p:cNvPr id="29" name="Shape 22"/>
          <p:cNvSpPr/>
          <p:nvPr/>
        </p:nvSpPr>
        <p:spPr>
          <a:xfrm>
            <a:off x="6172200" y="4626864"/>
            <a:ext cx="5468112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18504" y="4791456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489204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4736592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Acquisition screening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903720" y="5102352"/>
            <a:ext cx="45537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Avalor→Zscaler and Robust Intelligence→Cisco patterns show IP-led M&amp;A in this space; screen small assignees (Threatology, Zilla Security, Zimperium) whose filings sit in emerging categories.</a:t>
            </a:r>
            <a:endParaRPr lang="en-US" sz="1090" dirty="0"/>
          </a:p>
        </p:txBody>
      </p:sp>
      <p:sp>
        <p:nvSpPr>
          <p:cNvPr id="34" name="Text 26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AI-cybersecurity patent landscape has entered a decisive expansion phase. 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5E1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Across 635 publications from 29 assignee groups, filings grew 36% into 2024 and rotated sharply toward LLM and agentic-AI security. Three platform vendors — Zscaler, Microsoft and Cisco — already control nearly half of the art, while CrowdStrike is scaling fastest and broadest.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30175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27447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3200400"/>
            <a:ext cx="548640" cy="548640"/>
          </a:xfrm>
          <a:prstGeom prst="ellipse">
            <a:avLst/>
          </a:prstGeom>
          <a:solidFill>
            <a:srgbClr val="C55A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33211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value sits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24128" y="3886200"/>
            <a:ext cx="30358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C9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 analytics and network security hold the volume and citations; granted assets are concentrated in 2023-filed US patents.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4434840" y="30175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27447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3200400"/>
            <a:ext cx="548640" cy="548640"/>
          </a:xfrm>
          <a:prstGeom prst="ellipse">
            <a:avLst/>
          </a:prstGeom>
          <a:solidFill>
            <a:srgbClr val="C55A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421" y="33211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growth is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36008" y="3886200"/>
            <a:ext cx="30358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C9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&amp; GenAI Security (+391% filings) and agentic SecOps automation define the 2024–26 innovation agenda.</a:t>
            </a:r>
            <a:endParaRPr lang="en-US" sz="1230" dirty="0"/>
          </a:p>
        </p:txBody>
      </p:sp>
      <p:sp>
        <p:nvSpPr>
          <p:cNvPr id="14" name="Shape 10"/>
          <p:cNvSpPr/>
          <p:nvPr/>
        </p:nvSpPr>
        <p:spPr>
          <a:xfrm>
            <a:off x="8046720" y="301752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27447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0" y="3200400"/>
            <a:ext cx="548640" cy="548640"/>
          </a:xfrm>
          <a:prstGeom prst="ellipse">
            <a:avLst/>
          </a:prstGeom>
          <a:solidFill>
            <a:srgbClr val="C55A1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301" y="33211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32461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opportunity is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47888" y="3886200"/>
            <a:ext cx="30358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C9D8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Adversarial-ML protection, agent guardrails and Asian jurisdictions remain under-patented — actionable white space for the next 12–24 months.</a:t>
            </a:r>
            <a:endParaRPr lang="en-US" sz="1230" dirty="0"/>
          </a:p>
        </p:txBody>
      </p:sp>
      <p:sp>
        <p:nvSpPr>
          <p:cNvPr id="19" name="Text 14"/>
          <p:cNvSpPr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i="1" dirty="0">
                <a:solidFill>
                  <a:srgbClr val="E8B28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strategic imperative: move now on the identified white spaces — the unpublished 2025–26 filing pipeline will progressively close them.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— Assumptions, Definitions &amp; Data Notes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3639312" cy="5074920"/>
          </a:xfrm>
          <a:prstGeom prst="roundRect">
            <a:avLst>
              <a:gd name="adj" fmla="val 1759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assumptions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22376" y="1920240"/>
            <a:ext cx="3255264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taken as complete and authoritative; no external patent data added.</a:t>
            </a:r>
            <a:endParaRPr lang="en-US" sz="113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Assignee consolidation: 41 legal entities → 29 corporate groups (IBM ×5; Zscaler+Avalor; NVIDIA+Mellanox; SentinelOne+Sentinel Labs; Alibaba group; Arm entities; Google+DeepMind; Palo Alto entities).</a:t>
            </a:r>
            <a:endParaRPr lang="en-US" sz="113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status inferred from publication kind codes (US 'US2…' = pre-grant; EP 'B' = granted; WO = PCT). Expired/withdrawn states not derivable.</a:t>
            </a:r>
            <a:endParaRPr lang="en-US" sz="113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2025–26 filing counts understated by the standard 18-month publication lag.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4306824" y="1325880"/>
            <a:ext cx="3639312" cy="5074920"/>
          </a:xfrm>
          <a:prstGeom prst="roundRect">
            <a:avLst>
              <a:gd name="adj" fmla="val 1759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9704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definitions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26280" y="1920240"/>
            <a:ext cx="3255264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 categories assigned by weighted keyword scoring over title (3×), abstract, first claim and CPC codes; highest score wins; ties broken by list priority.</a:t>
            </a:r>
            <a:endParaRPr lang="en-US" sz="113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Records matching only generic ML terms are assigned via CPC context (predominantly Threat Detection &amp; Behavioral Analytics).</a:t>
            </a:r>
            <a:endParaRPr lang="en-US" sz="113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 shares sum to 635; every record has exactly one primary category.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8110728" y="1325880"/>
            <a:ext cx="3639312" cy="5074920"/>
          </a:xfrm>
          <a:prstGeom prst="roundRect">
            <a:avLst>
              <a:gd name="adj" fmla="val 1759"/>
            </a:avLst>
          </a:prstGeom>
          <a:solidFill>
            <a:srgbClr val="EEF3FA"/>
          </a:solidFill>
          <a:ln w="9525">
            <a:solidFill>
              <a:srgbClr val="DCE4F0"/>
            </a:solidFill>
            <a:prstDash val="solid"/>
          </a:ln>
          <a:effectLst>
            <a:outerShdw sx="100000" sy="100000" kx="0" ky="0" algn="bl" rotWithShape="0" blurRad="88900" dist="25400" dir="2700000">
              <a:srgbClr val="1F3864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93608" y="14630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/ unavailable data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30184" y="1920240"/>
            <a:ext cx="3255264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inventor fields — inventor analysis omitted.</a:t>
            </a:r>
            <a:endParaRPr lang="en-US" sz="113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patent-family identifiers — family analysis omitted; each record treated as one publication.</a:t>
            </a:r>
            <a:endParaRPr lang="en-US" sz="113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citation lists (counts only) — citation network analysis limited to counts.</a:t>
            </a:r>
            <a:endParaRPr lang="en-US" sz="113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231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records lack abstracts; 22 lack CPC codes; classification for these relied on remaining fields.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Appendix — Top 30 Keywords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5953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Term frequencies across all titles and abstracts (stop-words removed)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3611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868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Keyword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Freq.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723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network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660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detection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339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user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337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cybersecurity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service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access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application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traffic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417320"/>
          <a:ext cx="3611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868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Keyword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Freq.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attack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218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threat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210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machine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learning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198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include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cloud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language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risk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174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analysis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malicious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1417320"/>
          <a:ext cx="361188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868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Keyword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Freq.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environment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generated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computing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devices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148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generating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entity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147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intelligence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136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endpoint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128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128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B8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314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graph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C55A11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126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02920" y="617220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'Security' (723), 'network' (660) and 'model' (529) top the list; GenAI-era terms ('language', 'generated', 'intelligence') already rank in the top 30.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11384280" y="640080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Cybersecurity &amp; Agentic AI Patent Landscape</dc:title>
  <dc:subject>PptxGenJS Presentation</dc:subject>
  <dc:creator>IP Analysis</dc:creator>
  <cp:lastModifiedBy>IP Analysis</cp:lastModifiedBy>
  <cp:revision>1</cp:revision>
  <dcterms:created xsi:type="dcterms:W3CDTF">2026-07-02T09:21:58Z</dcterms:created>
  <dcterms:modified xsi:type="dcterms:W3CDTF">2026-07-02T09:21:58Z</dcterms:modified>
</cp:coreProperties>
</file>