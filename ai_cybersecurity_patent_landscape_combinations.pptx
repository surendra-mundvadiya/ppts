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records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Threat Detection and Response</c:v>
                  </c:pt>
                  <c:pt idx="1">
                    <c:v>Network and Cloud Security</c:v>
                  </c:pt>
                  <c:pt idx="2">
                    <c:v>Vulnerability and Risk Management</c:v>
                  </c:pt>
                  <c:pt idx="3">
                    <c:v>Identity and Access Management</c:v>
                  </c:pt>
                  <c:pt idx="4">
                    <c:v>AI Model Security</c:v>
                  </c:pt>
                  <c:pt idx="5">
                    <c:v>Malware and Phishing Defense</c:v>
                  </c:pt>
                  <c:pt idx="6">
                    <c:v>Security Automation and Testing</c:v>
                  </c:pt>
                  <c:pt idx="7">
                    <c:v>Data and Privacy Protection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258</c:v>
                </c:pt>
                <c:pt idx="1">
                  <c:v>146</c:v>
                </c:pt>
                <c:pt idx="2">
                  <c:v>75</c:v>
                </c:pt>
                <c:pt idx="3">
                  <c:v>67</c:v>
                </c:pt>
                <c:pt idx="4">
                  <c:v>60</c:v>
                </c:pt>
                <c:pt idx="5">
                  <c:v>32</c:v>
                </c:pt>
                <c:pt idx="6">
                  <c:v>26</c:v>
                </c:pt>
                <c:pt idx="7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3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bubble3D val="0"/>
            <c:spPr>
              <a:solidFill>
                <a:srgbClr val="EA580C"/>
              </a:solidFill>
              <a:effectLst/>
            </c:spPr>
          </c:dPt>
          <c:dPt>
            <c:idx val="6"/>
            <c:bubble3D val="0"/>
            <c:spPr>
              <a:solidFill>
                <a:srgbClr val="16A34A"/>
              </a:solidFill>
              <a:effectLst/>
            </c:spPr>
          </c:dPt>
          <c:dPt>
            <c:idx val="7"/>
            <c:bubble3D val="0"/>
            <c:spPr>
              <a:solidFill>
                <a:srgbClr val="47556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Threat Detection and Response</c:v>
                </c:pt>
                <c:pt idx="1">
                  <c:v>Network and Cloud Security</c:v>
                </c:pt>
                <c:pt idx="2">
                  <c:v>Vulnerability and Risk Management</c:v>
                </c:pt>
                <c:pt idx="3">
                  <c:v>Identity and Access Management</c:v>
                </c:pt>
                <c:pt idx="4">
                  <c:v>AI Model Security</c:v>
                </c:pt>
                <c:pt idx="5">
                  <c:v>Malware and Phishing Defense</c:v>
                </c:pt>
                <c:pt idx="6">
                  <c:v>Security Automation and Testing</c:v>
                </c:pt>
                <c:pt idx="7">
                  <c:v>Data and Privacy Protection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258</c:v>
                </c:pt>
                <c:pt idx="1">
                  <c:v>146</c:v>
                </c:pt>
                <c:pt idx="2">
                  <c:v>75</c:v>
                </c:pt>
                <c:pt idx="3">
                  <c:v>67</c:v>
                </c:pt>
                <c:pt idx="4">
                  <c:v>60</c:v>
                </c:pt>
                <c:pt idx="5">
                  <c:v>32</c:v>
                </c:pt>
                <c:pt idx="6">
                  <c:v>26</c:v>
                </c:pt>
                <c:pt idx="7">
                  <c:v>25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records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MICROSOFT TECH LICENSING LLC</c:v>
                  </c:pt>
                  <c:pt idx="1">
                    <c:v>CISCO TECH INC</c:v>
                  </c:pt>
                  <c:pt idx="2">
                    <c:v>FORTINET INC</c:v>
                  </c:pt>
                  <c:pt idx="3">
                    <c:v>PALO ALTO NETWORKS INC</c:v>
                  </c:pt>
                  <c:pt idx="4">
                    <c:v>GOOGLE LLC</c:v>
                  </c:pt>
                  <c:pt idx="5">
                    <c:v>RAPID7 INC</c:v>
                  </c:pt>
                  <c:pt idx="6">
                    <c:v>TREND MICRO INC</c:v>
                  </c:pt>
                  <c:pt idx="7">
                    <c:v>CYBERARK SOFTWARE LTD</c:v>
                  </c:pt>
                  <c:pt idx="8">
                    <c:v>MCAFEE LLC</c:v>
                  </c:pt>
                  <c:pt idx="9">
                    <c:v>SALESFORCE INC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167</c:v>
                </c:pt>
                <c:pt idx="1">
                  <c:v>158</c:v>
                </c:pt>
                <c:pt idx="2">
                  <c:v>96</c:v>
                </c:pt>
                <c:pt idx="3">
                  <c:v>96</c:v>
                </c:pt>
                <c:pt idx="4">
                  <c:v>46</c:v>
                </c:pt>
                <c:pt idx="5">
                  <c:v>42</c:v>
                </c:pt>
                <c:pt idx="6">
                  <c:v>27</c:v>
                </c:pt>
                <c:pt idx="7">
                  <c:v>13</c:v>
                </c:pt>
                <c:pt idx="8">
                  <c:v>12</c:v>
                </c:pt>
                <c:pt idx="9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CPC Subclass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H04L</c:v>
                  </c:pt>
                  <c:pt idx="1">
                    <c:v>G06F</c:v>
                  </c:pt>
                  <c:pt idx="2">
                    <c:v>G06N</c:v>
                  </c:pt>
                  <c:pt idx="3">
                    <c:v>G06Q</c:v>
                  </c:pt>
                  <c:pt idx="4">
                    <c:v>H04W</c:v>
                  </c:pt>
                  <c:pt idx="5">
                    <c:v>Unknown</c:v>
                  </c:pt>
                  <c:pt idx="6">
                    <c:v>G06V</c:v>
                  </c:pt>
                  <c:pt idx="7">
                    <c:v>G10L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359</c:v>
                </c:pt>
                <c:pt idx="1">
                  <c:v>259</c:v>
                </c:pt>
                <c:pt idx="2">
                  <c:v>34</c:v>
                </c:pt>
                <c:pt idx="3">
                  <c:v>12</c:v>
                </c:pt>
                <c:pt idx="4">
                  <c:v>10</c:v>
                </c:pt>
                <c:pt idx="5">
                  <c:v>5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IPC Subclass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H04L</c:v>
                  </c:pt>
                  <c:pt idx="1">
                    <c:v>G06F</c:v>
                  </c:pt>
                  <c:pt idx="2">
                    <c:v>G06N</c:v>
                  </c:pt>
                  <c:pt idx="3">
                    <c:v>H04W</c:v>
                  </c:pt>
                  <c:pt idx="4">
                    <c:v>G06Q</c:v>
                  </c:pt>
                  <c:pt idx="5">
                    <c:v>G06V</c:v>
                  </c:pt>
                  <c:pt idx="6">
                    <c:v>Unknown</c:v>
                  </c:pt>
                  <c:pt idx="7">
                    <c:v>G05B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375</c:v>
                </c:pt>
                <c:pt idx="1">
                  <c:v>240</c:v>
                </c:pt>
                <c:pt idx="2">
                  <c:v>40</c:v>
                </c:pt>
                <c:pt idx="3">
                  <c:v>13</c:v>
                </c:pt>
                <c:pt idx="4">
                  <c:v>7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 TECH LI…</c:v>
                  </c:pt>
                  <c:pt idx="1">
                    <c:v>CISCO TECH INC</c:v>
                  </c:pt>
                  <c:pt idx="2">
                    <c:v>FORTINET INC</c:v>
                  </c:pt>
                  <c:pt idx="3">
                    <c:v>PALO ALTO NETWORK…</c:v>
                  </c:pt>
                  <c:pt idx="4">
                    <c:v>GOOGLE LLC</c:v>
                  </c:pt>
                  <c:pt idx="5">
                    <c:v>RAPID7 INC</c:v>
                  </c:pt>
                  <c:pt idx="6">
                    <c:v>TREND MICRO INC</c:v>
                  </c:pt>
                  <c:pt idx="7">
                    <c:v>CYBERARK SOFTWARE…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87</c:v>
                </c:pt>
                <c:pt idx="1">
                  <c:v>51</c:v>
                </c:pt>
                <c:pt idx="2">
                  <c:v>28</c:v>
                </c:pt>
                <c:pt idx="3">
                  <c:v>20</c:v>
                </c:pt>
                <c:pt idx="4">
                  <c:v>21</c:v>
                </c:pt>
                <c:pt idx="5">
                  <c:v>18</c:v>
                </c:pt>
                <c:pt idx="6">
                  <c:v>13</c:v>
                </c:pt>
                <c:pt idx="7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 TECH LI…</c:v>
                  </c:pt>
                  <c:pt idx="1">
                    <c:v>CISCO TECH INC</c:v>
                  </c:pt>
                  <c:pt idx="2">
                    <c:v>FORTINET INC</c:v>
                  </c:pt>
                  <c:pt idx="3">
                    <c:v>PALO ALTO NETWORK…</c:v>
                  </c:pt>
                  <c:pt idx="4">
                    <c:v>GOOGLE LLC</c:v>
                  </c:pt>
                  <c:pt idx="5">
                    <c:v>RAPID7 INC</c:v>
                  </c:pt>
                  <c:pt idx="6">
                    <c:v>TREND MICRO INC</c:v>
                  </c:pt>
                  <c:pt idx="7">
                    <c:v>CYBERARK SOFTWARE…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22</c:v>
                </c:pt>
                <c:pt idx="1">
                  <c:v>41</c:v>
                </c:pt>
                <c:pt idx="2">
                  <c:v>41</c:v>
                </c:pt>
                <c:pt idx="3">
                  <c:v>22</c:v>
                </c:pt>
                <c:pt idx="4">
                  <c:v>6</c:v>
                </c:pt>
                <c:pt idx="5">
                  <c:v>6</c:v>
                </c:pt>
                <c:pt idx="6">
                  <c:v>4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 TECH LI…</c:v>
                  </c:pt>
                  <c:pt idx="1">
                    <c:v>CISCO TECH INC</c:v>
                  </c:pt>
                  <c:pt idx="2">
                    <c:v>FORTINET INC</c:v>
                  </c:pt>
                  <c:pt idx="3">
                    <c:v>PALO ALTO NETWORK…</c:v>
                  </c:pt>
                  <c:pt idx="4">
                    <c:v>GOOGLE LLC</c:v>
                  </c:pt>
                  <c:pt idx="5">
                    <c:v>RAPID7 INC</c:v>
                  </c:pt>
                  <c:pt idx="6">
                    <c:v>TREND MICRO INC</c:v>
                  </c:pt>
                  <c:pt idx="7">
                    <c:v>CYBERARK SOFTWARE…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13</c:v>
                </c:pt>
                <c:pt idx="1">
                  <c:v>22</c:v>
                </c:pt>
                <c:pt idx="2">
                  <c:v>5</c:v>
                </c:pt>
                <c:pt idx="3">
                  <c:v>10</c:v>
                </c:pt>
                <c:pt idx="4">
                  <c:v>3</c:v>
                </c:pt>
                <c:pt idx="5">
                  <c:v>15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 TECH LI…</c:v>
                  </c:pt>
                  <c:pt idx="1">
                    <c:v>CISCO TECH INC</c:v>
                  </c:pt>
                  <c:pt idx="2">
                    <c:v>FORTINET INC</c:v>
                  </c:pt>
                  <c:pt idx="3">
                    <c:v>PALO ALTO NETWORK…</c:v>
                  </c:pt>
                  <c:pt idx="4">
                    <c:v>GOOGLE LLC</c:v>
                  </c:pt>
                  <c:pt idx="5">
                    <c:v>RAPID7 INC</c:v>
                  </c:pt>
                  <c:pt idx="6">
                    <c:v>TREND MICRO INC</c:v>
                  </c:pt>
                  <c:pt idx="7">
                    <c:v>CYBERARK SOFTWARE…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13</c:v>
                </c:pt>
                <c:pt idx="1">
                  <c:v>21</c:v>
                </c:pt>
                <c:pt idx="2">
                  <c:v>12</c:v>
                </c:pt>
                <c:pt idx="3">
                  <c:v>5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 TECH LI…</c:v>
                  </c:pt>
                  <c:pt idx="1">
                    <c:v>CISCO TECH INC</c:v>
                  </c:pt>
                  <c:pt idx="2">
                    <c:v>FORTINET INC</c:v>
                  </c:pt>
                  <c:pt idx="3">
                    <c:v>PALO ALTO NETWORK…</c:v>
                  </c:pt>
                  <c:pt idx="4">
                    <c:v>GOOGLE LLC</c:v>
                  </c:pt>
                  <c:pt idx="5">
                    <c:v>RAPID7 INC</c:v>
                  </c:pt>
                  <c:pt idx="6">
                    <c:v>TREND MICRO INC</c:v>
                  </c:pt>
                  <c:pt idx="7">
                    <c:v>CYBERARK SOFTWARE…</c:v>
                  </c:pt>
                </c:lvl>
              </c:multiLvlStrCache>
            </c:multiLvl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17</c:v>
                </c:pt>
                <c:pt idx="1">
                  <c:v>7</c:v>
                </c:pt>
                <c:pt idx="2">
                  <c:v>1</c:v>
                </c:pt>
                <c:pt idx="3">
                  <c:v>20</c:v>
                </c:pt>
                <c:pt idx="4">
                  <c:v>4</c:v>
                </c:pt>
                <c:pt idx="5">
                  <c:v>0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 TECH LI…</c:v>
                  </c:pt>
                  <c:pt idx="1">
                    <c:v>CISCO TECH INC</c:v>
                  </c:pt>
                  <c:pt idx="2">
                    <c:v>FORTINET INC</c:v>
                  </c:pt>
                  <c:pt idx="3">
                    <c:v>PALO ALTO NETWORK…</c:v>
                  </c:pt>
                  <c:pt idx="4">
                    <c:v>GOOGLE LLC</c:v>
                  </c:pt>
                  <c:pt idx="5">
                    <c:v>RAPID7 INC</c:v>
                  </c:pt>
                  <c:pt idx="6">
                    <c:v>TREND MICRO INC</c:v>
                  </c:pt>
                  <c:pt idx="7">
                    <c:v>CYBERARK SOFTWARE…</c:v>
                  </c:pt>
                </c:lvl>
              </c:multiLvlStrCache>
            </c:multiLvlStrRef>
          </c:cat>
          <c:val>
            <c:numRef>
              <c:f>Sheet1!$G$2:$G$9</c:f>
              <c:numCache>
                <c:formatCode>General</c:formatCode>
                <c:ptCount val="8"/>
                <c:pt idx="0">
                  <c:v>6</c:v>
                </c:pt>
                <c:pt idx="1">
                  <c:v>5</c:v>
                </c:pt>
                <c:pt idx="2">
                  <c:v>2</c:v>
                </c:pt>
                <c:pt idx="3">
                  <c:v>10</c:v>
                </c:pt>
                <c:pt idx="4">
                  <c:v>3</c:v>
                </c:pt>
                <c:pt idx="5">
                  <c:v>0</c:v>
                </c:pt>
                <c:pt idx="6">
                  <c:v>4</c:v>
                </c:pt>
                <c:pt idx="7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 TECH LI…</c:v>
                  </c:pt>
                  <c:pt idx="1">
                    <c:v>CISCO TECH INC</c:v>
                  </c:pt>
                  <c:pt idx="2">
                    <c:v>FORTINET INC</c:v>
                  </c:pt>
                  <c:pt idx="3">
                    <c:v>PALO ALTO NETWORK…</c:v>
                  </c:pt>
                  <c:pt idx="4">
                    <c:v>GOOGLE LLC</c:v>
                  </c:pt>
                  <c:pt idx="5">
                    <c:v>RAPID7 INC</c:v>
                  </c:pt>
                  <c:pt idx="6">
                    <c:v>TREND MICRO INC</c:v>
                  </c:pt>
                  <c:pt idx="7">
                    <c:v>CYBERARK SOFTWARE…</c:v>
                  </c:pt>
                </c:lvl>
              </c:multiLvlStrCache>
            </c:multiLvlStrRef>
          </c:cat>
          <c:val>
            <c:numRef>
              <c:f>Sheet1!$H$2:$H$9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6</c:v>
                </c:pt>
                <c:pt idx="4">
                  <c:v>5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 TECH LI…</c:v>
                  </c:pt>
                  <c:pt idx="1">
                    <c:v>CISCO TECH INC</c:v>
                  </c:pt>
                  <c:pt idx="2">
                    <c:v>FORTINET INC</c:v>
                  </c:pt>
                  <c:pt idx="3">
                    <c:v>PALO ALTO NETWORK…</c:v>
                  </c:pt>
                  <c:pt idx="4">
                    <c:v>GOOGLE LLC</c:v>
                  </c:pt>
                  <c:pt idx="5">
                    <c:v>RAPID7 INC</c:v>
                  </c:pt>
                  <c:pt idx="6">
                    <c:v>TREND MICRO INC</c:v>
                  </c:pt>
                  <c:pt idx="7">
                    <c:v>CYBERARK SOFTWARE…</c:v>
                  </c:pt>
                </c:lvl>
              </c:multiLvlStrCache>
            </c:multiLvlStrRef>
          </c:cat>
          <c:val>
            <c:numRef>
              <c:f>Sheet1!$I$2:$I$9</c:f>
              <c:numCache>
                <c:formatCode>General</c:formatCode>
                <c:ptCount val="8"/>
                <c:pt idx="0">
                  <c:v>5</c:v>
                </c:pt>
                <c:pt idx="1">
                  <c:v>7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Filing Records</c:v>
                </c:pt>
              </c:strCache>
            </c:strRef>
          </c:tx>
          <c:spPr>
            <a:solidFill>
              <a:srgbClr val="1D4ED8"/>
            </a:solidFill>
            <a:ln w="25400" cap="flat">
              <a:solidFill>
                <a:srgbClr val="1D4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5</c:v>
                </c:pt>
                <c:pt idx="2">
                  <c:v>7</c:v>
                </c:pt>
                <c:pt idx="3">
                  <c:v>21</c:v>
                </c:pt>
                <c:pt idx="4">
                  <c:v>41</c:v>
                </c:pt>
                <c:pt idx="5">
                  <c:v>73</c:v>
                </c:pt>
                <c:pt idx="6">
                  <c:v>99</c:v>
                </c:pt>
                <c:pt idx="7">
                  <c:v>159</c:v>
                </c:pt>
                <c:pt idx="8">
                  <c:v>213</c:v>
                </c:pt>
                <c:pt idx="9">
                  <c:v>67</c:v>
                </c:pt>
                <c:pt idx="10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Publication Records</c:v>
                </c:pt>
              </c:strCache>
            </c:strRef>
          </c:tx>
          <c:spPr>
            <a:solidFill>
              <a:srgbClr val="EA580C"/>
            </a:solidFill>
            <a:ln w="2540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92</c:v>
                </c:pt>
                <c:pt idx="8">
                  <c:v>122</c:v>
                </c:pt>
                <c:pt idx="9">
                  <c:v>264</c:v>
                </c:pt>
                <c:pt idx="10">
                  <c:v>211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11</c:v>
                </c:pt>
                <c:pt idx="4">
                  <c:v>26</c:v>
                </c:pt>
                <c:pt idx="5">
                  <c:v>44</c:v>
                </c:pt>
                <c:pt idx="6">
                  <c:v>42</c:v>
                </c:pt>
                <c:pt idx="7">
                  <c:v>47</c:v>
                </c:pt>
                <c:pt idx="8">
                  <c:v>55</c:v>
                </c:pt>
                <c:pt idx="9">
                  <c:v>31</c:v>
                </c:pt>
                <c:pt idx="1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0891B2"/>
            </a:solidFill>
            <a:ln w="254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7</c:v>
                </c:pt>
                <c:pt idx="5">
                  <c:v>11</c:v>
                </c:pt>
                <c:pt idx="6">
                  <c:v>28</c:v>
                </c:pt>
                <c:pt idx="7">
                  <c:v>46</c:v>
                </c:pt>
                <c:pt idx="8">
                  <c:v>34</c:v>
                </c:pt>
                <c:pt idx="9">
                  <c:v>12</c:v>
                </c:pt>
                <c:pt idx="10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10</c:v>
                </c:pt>
                <c:pt idx="6">
                  <c:v>11</c:v>
                </c:pt>
                <c:pt idx="7">
                  <c:v>23</c:v>
                </c:pt>
                <c:pt idx="8">
                  <c:v>22</c:v>
                </c:pt>
                <c:pt idx="9">
                  <c:v>6</c:v>
                </c:pt>
                <c:pt idx="10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6</c:v>
                </c:pt>
                <c:pt idx="7">
                  <c:v>14</c:v>
                </c:pt>
                <c:pt idx="8">
                  <c:v>26</c:v>
                </c:pt>
                <c:pt idx="9">
                  <c:v>5</c:v>
                </c:pt>
                <c:pt idx="10">
                  <c:v>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</c:v>
                </c:pt>
                <c:pt idx="8">
                  <c:v>43</c:v>
                </c:pt>
                <c:pt idx="9">
                  <c:v>8</c:v>
                </c:pt>
                <c:pt idx="10">
                  <c:v>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EA580C"/>
            </a:solidFill>
            <a:ln w="2540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0</c:v>
                </c:pt>
                <c:pt idx="5">
                  <c:v>1</c:v>
                </c:pt>
                <c:pt idx="6">
                  <c:v>3</c:v>
                </c:pt>
                <c:pt idx="7">
                  <c:v>11</c:v>
                </c:pt>
                <c:pt idx="8">
                  <c:v>12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6A34A"/>
            </a:solidFill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  <c:pt idx="5">
                  <c:v>0</c:v>
                </c:pt>
                <c:pt idx="6">
                  <c:v>3</c:v>
                </c:pt>
                <c:pt idx="7">
                  <c:v>6</c:v>
                </c:pt>
                <c:pt idx="8">
                  <c:v>12</c:v>
                </c:pt>
                <c:pt idx="9">
                  <c:v>1</c:v>
                </c:pt>
                <c:pt idx="10">
                  <c:v>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475569"/>
            </a:solidFill>
            <a:ln w="25400" cap="flat">
              <a:solidFill>
                <a:srgbClr val="4755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75569"/>
              </a:solidFill>
              <a:ln w="9525" cap="flat">
                <a:solidFill>
                  <a:srgbClr val="4755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Sheet1!$I$2:$I$12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3</c:v>
                </c:pt>
                <c:pt idx="6">
                  <c:v>6</c:v>
                </c:pt>
                <c:pt idx="7">
                  <c:v>4</c:v>
                </c:pt>
                <c:pt idx="8">
                  <c:v>9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11</c:v>
                </c:pt>
                <c:pt idx="4">
                  <c:v>26</c:v>
                </c:pt>
                <c:pt idx="5">
                  <c:v>44</c:v>
                </c:pt>
                <c:pt idx="6">
                  <c:v>42</c:v>
                </c:pt>
                <c:pt idx="7">
                  <c:v>47</c:v>
                </c:pt>
                <c:pt idx="8">
                  <c:v>55</c:v>
                </c:pt>
                <c:pt idx="9">
                  <c:v>31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7</c:v>
                </c:pt>
                <c:pt idx="5">
                  <c:v>11</c:v>
                </c:pt>
                <c:pt idx="6">
                  <c:v>28</c:v>
                </c:pt>
                <c:pt idx="7">
                  <c:v>46</c:v>
                </c:pt>
                <c:pt idx="8">
                  <c:v>34</c:v>
                </c:pt>
                <c:pt idx="9">
                  <c:v>12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10</c:v>
                </c:pt>
                <c:pt idx="6">
                  <c:v>11</c:v>
                </c:pt>
                <c:pt idx="7">
                  <c:v>23</c:v>
                </c:pt>
                <c:pt idx="8">
                  <c:v>22</c:v>
                </c:pt>
                <c:pt idx="9">
                  <c:v>6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6</c:v>
                </c:pt>
                <c:pt idx="7">
                  <c:v>14</c:v>
                </c:pt>
                <c:pt idx="8">
                  <c:v>26</c:v>
                </c:pt>
                <c:pt idx="9">
                  <c:v>5</c:v>
                </c:pt>
                <c:pt idx="10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</c:v>
                </c:pt>
                <c:pt idx="8">
                  <c:v>43</c:v>
                </c:pt>
                <c:pt idx="9">
                  <c:v>8</c:v>
                </c:pt>
                <c:pt idx="10">
                  <c:v>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0</c:v>
                </c:pt>
                <c:pt idx="5">
                  <c:v>1</c:v>
                </c:pt>
                <c:pt idx="6">
                  <c:v>3</c:v>
                </c:pt>
                <c:pt idx="7">
                  <c:v>11</c:v>
                </c:pt>
                <c:pt idx="8">
                  <c:v>12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  <c:pt idx="5">
                  <c:v>0</c:v>
                </c:pt>
                <c:pt idx="6">
                  <c:v>3</c:v>
                </c:pt>
                <c:pt idx="7">
                  <c:v>6</c:v>
                </c:pt>
                <c:pt idx="8">
                  <c:v>12</c:v>
                </c:pt>
                <c:pt idx="9">
                  <c:v>1</c:v>
                </c:pt>
                <c:pt idx="10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Sheet1!$I$2:$I$12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3</c:v>
                </c:pt>
                <c:pt idx="6">
                  <c:v>6</c:v>
                </c:pt>
                <c:pt idx="7">
                  <c:v>4</c:v>
                </c:pt>
                <c:pt idx="8">
                  <c:v>9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58</c:v>
                </c:pt>
                <c:pt idx="2">
                  <c:v>80</c:v>
                </c:pt>
                <c:pt idx="3">
                  <c:v>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0891B2"/>
            </a:solidFill>
            <a:ln w="254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23</c:v>
                </c:pt>
                <c:pt idx="2">
                  <c:v>68</c:v>
                </c:pt>
                <c:pt idx="3">
                  <c:v>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35</c:v>
                </c:pt>
                <c:pt idx="3">
                  <c:v>18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</c:v>
                </c:pt>
                <c:pt idx="1">
                  <c:v>13</c:v>
                </c:pt>
                <c:pt idx="2">
                  <c:v>26</c:v>
                </c:pt>
                <c:pt idx="3">
                  <c:v>20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EA580C"/>
            </a:solidFill>
            <a:ln w="2540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</c:v>
                </c:pt>
                <c:pt idx="1">
                  <c:v>7</c:v>
                </c:pt>
                <c:pt idx="2">
                  <c:v>8</c:v>
                </c:pt>
                <c:pt idx="3">
                  <c:v>14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6A34A"/>
            </a:solidFill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6</c:v>
                </c:pt>
                <c:pt idx="1">
                  <c:v>3</c:v>
                </c:pt>
                <c:pt idx="2">
                  <c:v>10</c:v>
                </c:pt>
                <c:pt idx="3">
                  <c:v>7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475569"/>
            </a:solidFill>
            <a:ln w="25400" cap="flat">
              <a:solidFill>
                <a:srgbClr val="4755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75569"/>
              </a:solidFill>
              <a:ln w="9525" cap="flat">
                <a:solidFill>
                  <a:srgbClr val="4755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 TECH LICENS…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28</c:v>
                </c:pt>
                <c:pt idx="2">
                  <c:v>57</c:v>
                </c:pt>
                <c:pt idx="3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CISCO TECH INC</c:v>
                </c:pt>
              </c:strCache>
            </c:strRef>
          </c:tx>
          <c:spPr>
            <a:solidFill>
              <a:srgbClr val="0891B2"/>
            </a:solidFill>
            <a:ln w="254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</c:v>
                </c:pt>
                <c:pt idx="1">
                  <c:v>29</c:v>
                </c:pt>
                <c:pt idx="2">
                  <c:v>75</c:v>
                </c:pt>
                <c:pt idx="3">
                  <c:v>37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FORTINET INC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39</c:v>
                </c:pt>
                <c:pt idx="3">
                  <c:v>27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PALO ALTO NETWORKS INC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42</c:v>
                </c:pt>
                <c:pt idx="3">
                  <c:v>37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GOOGLE LLC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RAPID7 INC</c:v>
                </c:pt>
              </c:strCache>
            </c:strRef>
          </c:tx>
          <c:spPr>
            <a:solidFill>
              <a:srgbClr val="16A34A"/>
            </a:solidFill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10</c:v>
                </c:pt>
                <c:pt idx="1">
                  <c:v>15</c:v>
                </c:pt>
                <c:pt idx="2">
                  <c:v>10</c:v>
                </c:pt>
                <c:pt idx="3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 TECH LICENS…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6</c:v>
                </c:pt>
                <c:pt idx="4">
                  <c:v>13</c:v>
                </c:pt>
                <c:pt idx="5">
                  <c:v>19</c:v>
                </c:pt>
                <c:pt idx="6">
                  <c:v>27</c:v>
                </c:pt>
                <c:pt idx="7">
                  <c:v>27</c:v>
                </c:pt>
                <c:pt idx="8">
                  <c:v>53</c:v>
                </c:pt>
                <c:pt idx="9">
                  <c:v>16</c:v>
                </c:pt>
                <c:pt idx="1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CISCO TECH INC</c:v>
                </c:pt>
              </c:strCache>
            </c:strRef>
          </c:tx>
          <c:spPr>
            <a:solidFill>
              <a:srgbClr val="0891B2"/>
            </a:solidFill>
            <a:ln w="254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3</c:v>
                </c:pt>
                <c:pt idx="4">
                  <c:v>4</c:v>
                </c:pt>
                <c:pt idx="5">
                  <c:v>13</c:v>
                </c:pt>
                <c:pt idx="6">
                  <c:v>23</c:v>
                </c:pt>
                <c:pt idx="7">
                  <c:v>52</c:v>
                </c:pt>
                <c:pt idx="8">
                  <c:v>42</c:v>
                </c:pt>
                <c:pt idx="9">
                  <c:v>19</c:v>
                </c:pt>
                <c:pt idx="10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FORTINET INC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11</c:v>
                </c:pt>
                <c:pt idx="5">
                  <c:v>10</c:v>
                </c:pt>
                <c:pt idx="6">
                  <c:v>15</c:v>
                </c:pt>
                <c:pt idx="7">
                  <c:v>24</c:v>
                </c:pt>
                <c:pt idx="8">
                  <c:v>24</c:v>
                </c:pt>
                <c:pt idx="9">
                  <c:v>9</c:v>
                </c:pt>
                <c:pt idx="10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PALO ALTO NETWORKS INC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4</c:v>
                </c:pt>
                <c:pt idx="5">
                  <c:v>6</c:v>
                </c:pt>
                <c:pt idx="6">
                  <c:v>11</c:v>
                </c:pt>
                <c:pt idx="7">
                  <c:v>20</c:v>
                </c:pt>
                <c:pt idx="8">
                  <c:v>48</c:v>
                </c:pt>
                <c:pt idx="9">
                  <c:v>6</c:v>
                </c:pt>
                <c:pt idx="10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GOOGLE LLC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3</c:v>
                </c:pt>
                <c:pt idx="6">
                  <c:v>2</c:v>
                </c:pt>
                <c:pt idx="7">
                  <c:v>14</c:v>
                </c:pt>
                <c:pt idx="8">
                  <c:v>16</c:v>
                </c:pt>
                <c:pt idx="9">
                  <c:v>6</c:v>
                </c:pt>
                <c:pt idx="10">
                  <c:v>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RAPID7 INC</c:v>
                </c:pt>
              </c:strCache>
            </c:strRef>
          </c:tx>
          <c:spPr>
            <a:solidFill>
              <a:srgbClr val="16A34A"/>
            </a:solidFill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12</c:v>
                </c:pt>
                <c:pt idx="6">
                  <c:v>11</c:v>
                </c:pt>
                <c:pt idx="7">
                  <c:v>4</c:v>
                </c:pt>
                <c:pt idx="8">
                  <c:v>6</c:v>
                </c:pt>
                <c:pt idx="9">
                  <c:v>3</c:v>
                </c:pt>
                <c:pt idx="1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records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US</c:v>
                  </c:pt>
                  <c:pt idx="1">
                    <c:v>EP</c:v>
                  </c:pt>
                  <c:pt idx="2">
                    <c:v>WO</c:v>
                  </c:pt>
                  <c:pt idx="3">
                    <c:v>CN</c:v>
                  </c:pt>
                  <c:pt idx="4">
                    <c:v>IN</c:v>
                  </c:pt>
                  <c:pt idx="5">
                    <c:v>JP</c:v>
                  </c:pt>
                  <c:pt idx="6">
                    <c:v>KR</c:v>
                  </c:pt>
                  <c:pt idx="7">
                    <c:v>CA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558</c:v>
                </c:pt>
                <c:pt idx="1">
                  <c:v>49</c:v>
                </c:pt>
                <c:pt idx="2">
                  <c:v>46</c:v>
                </c:pt>
                <c:pt idx="3">
                  <c:v>16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Country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bubble3D val="0"/>
            <c:spPr>
              <a:solidFill>
                <a:srgbClr val="16A34A"/>
              </a:solidFill>
              <a:effectLst/>
            </c:spPr>
          </c:dPt>
          <c:dPt>
            <c:idx val="6"/>
            <c:bubble3D val="0"/>
            <c:spPr>
              <a:solidFill>
                <a:srgbClr val="475569"/>
              </a:solidFill>
              <a:effectLst/>
            </c:spPr>
          </c:dPt>
          <c:dPt>
            <c:idx val="7"/>
            <c:bubble3D val="0"/>
            <c:spPr>
              <a:solidFill>
                <a:srgbClr val="EA580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US</c:v>
                </c:pt>
                <c:pt idx="1">
                  <c:v>EP</c:v>
                </c:pt>
                <c:pt idx="2">
                  <c:v>WO</c:v>
                </c:pt>
                <c:pt idx="3">
                  <c:v>CN</c:v>
                </c:pt>
                <c:pt idx="4">
                  <c:v>IN</c:v>
                </c:pt>
                <c:pt idx="5">
                  <c:v>JP</c:v>
                </c:pt>
                <c:pt idx="6">
                  <c:v>KR</c:v>
                </c:pt>
                <c:pt idx="7">
                  <c:v>CA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558</c:v>
                </c:pt>
                <c:pt idx="1">
                  <c:v>49</c:v>
                </c:pt>
                <c:pt idx="2">
                  <c:v>46</c:v>
                </c:pt>
                <c:pt idx="3">
                  <c:v>16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Forward Citations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Threat Detectio…</c:v>
                  </c:pt>
                  <c:pt idx="1">
                    <c:v>Network and Clo…</c:v>
                  </c:pt>
                  <c:pt idx="2">
                    <c:v>Vulnerability a…</c:v>
                  </c:pt>
                  <c:pt idx="3">
                    <c:v>Identity and Ac…</c:v>
                  </c:pt>
                  <c:pt idx="4">
                    <c:v>AI Model Securi…</c:v>
                  </c:pt>
                  <c:pt idx="5">
                    <c:v>Malware and Phi…</c:v>
                  </c:pt>
                  <c:pt idx="6">
                    <c:v>Security Automa…</c:v>
                  </c:pt>
                  <c:pt idx="7">
                    <c:v>Data and Privac…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450</c:v>
                </c:pt>
                <c:pt idx="1">
                  <c:v>119</c:v>
                </c:pt>
                <c:pt idx="2">
                  <c:v>98</c:v>
                </c:pt>
                <c:pt idx="3">
                  <c:v>39</c:v>
                </c:pt>
                <c:pt idx="4">
                  <c:v>72</c:v>
                </c:pt>
                <c:pt idx="5">
                  <c:v>17</c:v>
                </c:pt>
                <c:pt idx="6">
                  <c:v>61</c:v>
                </c:pt>
                <c:pt idx="7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Backward Citations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Threat Detectio…</c:v>
                  </c:pt>
                  <c:pt idx="1">
                    <c:v>Network and Clo…</c:v>
                  </c:pt>
                  <c:pt idx="2">
                    <c:v>Vulnerability a…</c:v>
                  </c:pt>
                  <c:pt idx="3">
                    <c:v>Identity and Ac…</c:v>
                  </c:pt>
                  <c:pt idx="4">
                    <c:v>AI Model Securi…</c:v>
                  </c:pt>
                  <c:pt idx="5">
                    <c:v>Malware and Phi…</c:v>
                  </c:pt>
                  <c:pt idx="6">
                    <c:v>Security Automa…</c:v>
                  </c:pt>
                  <c:pt idx="7">
                    <c:v>Data and Privac…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5982</c:v>
                </c:pt>
                <c:pt idx="1">
                  <c:v>3249</c:v>
                </c:pt>
                <c:pt idx="2">
                  <c:v>1158</c:v>
                </c:pt>
                <c:pt idx="3">
                  <c:v>1111</c:v>
                </c:pt>
                <c:pt idx="4">
                  <c:v>916</c:v>
                </c:pt>
                <c:pt idx="5">
                  <c:v>966</c:v>
                </c:pt>
                <c:pt idx="6">
                  <c:v>195</c:v>
                </c:pt>
                <c:pt idx="7">
                  <c:v>207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1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records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Network and device anomaly …</c:v>
                  </c:pt>
                  <c:pt idx="1">
                    <c:v>Alert overload and SOC resp…</c:v>
                  </c:pt>
                  <c:pt idx="2">
                    <c:v>Identity, credential and ac…</c:v>
                  </c:pt>
                  <c:pt idx="3">
                    <c:v>Cloud workload and configur…</c:v>
                  </c:pt>
                  <c:pt idx="4">
                    <c:v>Risk, vulnerability and exp…</c:v>
                  </c:pt>
                  <c:pt idx="5">
                    <c:v>LLM/prompt attacks and gene…</c:v>
                  </c:pt>
                  <c:pt idx="6">
                    <c:v>Automated remediation and s…</c:v>
                  </c:pt>
                  <c:pt idx="7">
                    <c:v>Phishing, malware and malic…</c:v>
                  </c:pt>
                  <c:pt idx="8">
                    <c:v>Data leakage, privacy and s…</c:v>
                  </c:pt>
                  <c:pt idx="9">
                    <c:v>Secure software, CI/CD and …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273</c:v>
                </c:pt>
                <c:pt idx="1">
                  <c:v>189</c:v>
                </c:pt>
                <c:pt idx="2">
                  <c:v>152</c:v>
                </c:pt>
                <c:pt idx="3">
                  <c:v>136</c:v>
                </c:pt>
                <c:pt idx="4">
                  <c:v>134</c:v>
                </c:pt>
                <c:pt idx="5">
                  <c:v>81</c:v>
                </c:pt>
                <c:pt idx="6">
                  <c:v>78</c:v>
                </c:pt>
                <c:pt idx="7">
                  <c:v>47</c:v>
                </c:pt>
                <c:pt idx="8">
                  <c:v>42</c:v>
                </c:pt>
                <c:pt idx="9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58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bubble3D val="0"/>
            <c:spPr>
              <a:solidFill>
                <a:srgbClr val="EA580C"/>
              </a:solidFill>
              <a:effectLst/>
            </c:spPr>
          </c:dPt>
          <c:dPt>
            <c:idx val="6"/>
            <c:bubble3D val="0"/>
            <c:spPr>
              <a:solidFill>
                <a:srgbClr val="16A34A"/>
              </a:solidFill>
              <a:effectLst/>
            </c:spPr>
          </c:dPt>
          <c:dPt>
            <c:idx val="7"/>
            <c:bubble3D val="0"/>
            <c:spPr>
              <a:solidFill>
                <a:srgbClr val="47556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Threat Detection and Response</c:v>
                </c:pt>
                <c:pt idx="1">
                  <c:v>Network and Cloud Security</c:v>
                </c:pt>
                <c:pt idx="2">
                  <c:v>Vulnerability and Risk Management</c:v>
                </c:pt>
                <c:pt idx="3">
                  <c:v>Identity and Access Management</c:v>
                </c:pt>
                <c:pt idx="4">
                  <c:v>AI Model Security</c:v>
                </c:pt>
                <c:pt idx="5">
                  <c:v>Malware and Phishing Defense</c:v>
                </c:pt>
                <c:pt idx="6">
                  <c:v>Security Automation and Testing</c:v>
                </c:pt>
                <c:pt idx="7">
                  <c:v>Data and Privacy Protection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258</c:v>
                </c:pt>
                <c:pt idx="1">
                  <c:v>146</c:v>
                </c:pt>
                <c:pt idx="2">
                  <c:v>75</c:v>
                </c:pt>
                <c:pt idx="3">
                  <c:v>67</c:v>
                </c:pt>
                <c:pt idx="4">
                  <c:v>60</c:v>
                </c:pt>
                <c:pt idx="5">
                  <c:v>32</c:v>
                </c:pt>
                <c:pt idx="6">
                  <c:v>26</c:v>
                </c:pt>
                <c:pt idx="7">
                  <c:v>25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records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MICROSOFT TECH LI…</c:v>
                  </c:pt>
                  <c:pt idx="1">
                    <c:v>CISCO TECH INC</c:v>
                  </c:pt>
                  <c:pt idx="2">
                    <c:v>FORTINET INC</c:v>
                  </c:pt>
                  <c:pt idx="3">
                    <c:v>PALO ALTO NETWORK…</c:v>
                  </c:pt>
                  <c:pt idx="4">
                    <c:v>GOOGLE LLC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167</c:v>
                </c:pt>
                <c:pt idx="1">
                  <c:v>158</c:v>
                </c:pt>
                <c:pt idx="2">
                  <c:v>96</c:v>
                </c:pt>
                <c:pt idx="3">
                  <c:v>96</c:v>
                </c:pt>
                <c:pt idx="4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5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Filing</c:v>
                </c:pt>
              </c:strCache>
            </c:strRef>
          </c:tx>
          <c:spPr>
            <a:solidFill>
              <a:srgbClr val="1D4ED8"/>
            </a:solidFill>
            <a:ln w="25400" cap="flat">
              <a:solidFill>
                <a:srgbClr val="1D4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5</c:v>
                </c:pt>
                <c:pt idx="2">
                  <c:v>7</c:v>
                </c:pt>
                <c:pt idx="3">
                  <c:v>21</c:v>
                </c:pt>
                <c:pt idx="4">
                  <c:v>41</c:v>
                </c:pt>
                <c:pt idx="5">
                  <c:v>73</c:v>
                </c:pt>
                <c:pt idx="6">
                  <c:v>99</c:v>
                </c:pt>
                <c:pt idx="7">
                  <c:v>159</c:v>
                </c:pt>
                <c:pt idx="8">
                  <c:v>213</c:v>
                </c:pt>
                <c:pt idx="9">
                  <c:v>67</c:v>
                </c:pt>
                <c:pt idx="10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Publication</c:v>
                </c:pt>
              </c:strCache>
            </c:strRef>
          </c:tx>
          <c:spPr>
            <a:solidFill>
              <a:srgbClr val="EA580C"/>
            </a:solidFill>
            <a:ln w="2540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92</c:v>
                </c:pt>
                <c:pt idx="8">
                  <c:v>122</c:v>
                </c:pt>
                <c:pt idx="9">
                  <c:v>264</c:v>
                </c:pt>
                <c:pt idx="10">
                  <c:v>211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5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records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Threat Detectio…</c:v>
                  </c:pt>
                  <c:pt idx="1">
                    <c:v>Network and Clo…</c:v>
                  </c:pt>
                  <c:pt idx="2">
                    <c:v>Vulnerability a…</c:v>
                  </c:pt>
                  <c:pt idx="3">
                    <c:v>Identity and Ac…</c:v>
                  </c:pt>
                  <c:pt idx="4">
                    <c:v>AI Model Securi…</c:v>
                  </c:pt>
                  <c:pt idx="5">
                    <c:v>Malware and Phi…</c:v>
                  </c:pt>
                  <c:pt idx="6">
                    <c:v>Security Automa…</c:v>
                  </c:pt>
                  <c:pt idx="7">
                    <c:v>Data and Privac…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450</c:v>
                </c:pt>
                <c:pt idx="1">
                  <c:v>119</c:v>
                </c:pt>
                <c:pt idx="2">
                  <c:v>98</c:v>
                </c:pt>
                <c:pt idx="3">
                  <c:v>39</c:v>
                </c:pt>
                <c:pt idx="4">
                  <c:v>72</c:v>
                </c:pt>
                <c:pt idx="5">
                  <c:v>17</c:v>
                </c:pt>
                <c:pt idx="6">
                  <c:v>61</c:v>
                </c:pt>
                <c:pt idx="7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53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chart" Target="/ppt/charts/chart18.xml"/><Relationship Id="rId3" Type="http://schemas.openxmlformats.org/officeDocument/2006/relationships/chart" Target="/ppt/charts/chart19.xml"/><Relationship Id="rId4" Type="http://schemas.openxmlformats.org/officeDocument/2006/relationships/chart" Target="/ppt/charts/chart20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pic>
        <p:nvPicPr>
          <p:cNvPr id="4" name="Image 0" descr="/mnt/data/cyber_images/ai_shield.jpg">    </p:cNvPr>
          <p:cNvPicPr>
            <a:picLocks noChangeAspect="1"/>
          </p:cNvPicPr>
          <p:nvPr/>
        </p:nvPicPr>
        <p:blipFill>
          <a:blip r:embed="rId1"/>
          <a:srcRect l="2741" r="2741" t="0" b="0"/>
          <a:stretch/>
        </p:blipFill>
        <p:spPr>
          <a:xfrm>
            <a:off x="6355080" y="164592"/>
            <a:ext cx="5833872" cy="6172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8872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AI-Driven Cybersecurity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Patent Landscape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30352" y="260604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Standardized 8-category landscape with yearly trends, assignee analytics, technology-code views, problem directions, important patents, and ideation opportunities.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88620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014216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689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" y="435254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</a:rPr>
              <a:t>Patent records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2057400" y="388620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67128" y="4014216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8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167128" y="435254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</a:rPr>
              <a:t>Fixed categories</a:t>
            </a:r>
            <a:endParaRPr lang="en-US" sz="770" dirty="0"/>
          </a:p>
        </p:txBody>
      </p:sp>
      <p:sp>
        <p:nvSpPr>
          <p:cNvPr id="13" name="Shape 10"/>
          <p:cNvSpPr/>
          <p:nvPr/>
        </p:nvSpPr>
        <p:spPr>
          <a:xfrm>
            <a:off x="3566160" y="388620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75888" y="4014216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258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675888" y="435254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</a:rPr>
              <a:t>Largest category</a:t>
            </a:r>
            <a:endParaRPr lang="en-US" sz="770" dirty="0"/>
          </a:p>
        </p:txBody>
      </p:sp>
      <p:sp>
        <p:nvSpPr>
          <p:cNvPr id="16" name="Text 13"/>
          <p:cNvSpPr/>
          <p:nvPr/>
        </p:nvSpPr>
        <p:spPr>
          <a:xfrm>
            <a:off x="548640" y="61996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Source: uploaded workbook. Counts are publication/application records, not unique patent families.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Landscape Scope and Taxonomy Control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same 8 standard category names are used consistently across every chart, table and patent example.</a:t>
            </a:r>
            <a:endParaRPr lang="en-US" sz="950" dirty="0"/>
          </a:p>
        </p:txBody>
      </p:sp>
      <p:pic>
        <p:nvPicPr>
          <p:cNvPr id="6" name="Image 0" descr="/mnt/data/cyber_images/soc_ai.png">    </p:cNvPr>
          <p:cNvPicPr>
            <a:picLocks noChangeAspect="1"/>
          </p:cNvPicPr>
          <p:nvPr/>
        </p:nvPicPr>
        <p:blipFill>
          <a:blip r:embed="rId1"/>
          <a:srcRect l="4087" r="4087" t="0" b="0"/>
          <a:stretch/>
        </p:blipFill>
        <p:spPr>
          <a:xfrm>
            <a:off x="7909560" y="1005840"/>
            <a:ext cx="374904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051560"/>
            <a:ext cx="69037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This landscape covers AI/ML-enabled cybersecurity inventions in the provided patent dataset. It analyzes filing concentration, publication and filing-year trends, assignee focus, technology-code concentration, problem areas, high-signal patents and white-space opportunities. The analysis does not verify legal status, validity, infringement, patent-family consolidation or commercial use.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95728"/>
          <a:ext cx="6583680" cy="3310128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Standard Category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Records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563E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Threat Detection and Response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37.5%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891B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and Cloud Security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21.2%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59E0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Vulnerability and Risk Management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10.9%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7C3AE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 and Access Management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9.7%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DC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Model Security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8.7%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EA580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Malware and Phishing Defense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4.6%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6A3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Automation and Testing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3.8%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and Privacy Protection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47556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3.6%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909560" y="3429000"/>
            <a:ext cx="3749040" cy="17830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38160" y="36758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Consistency rule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138160" y="400507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Every record is classified once into one of the same eight categories. No shorthand labels or mixed aliases are used in the deck.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Distribution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Threat Detection and Response is the largest concentration; smaller categories indicate targeted white-space areas.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143000"/>
          <a:ext cx="65379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7452360" y="1143000"/>
          <a:ext cx="41605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7543800" y="56052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Category count reconciliation: 258 + 146 + 75 + 67 + 60 + 32 + 26 + 25 = 689 records.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Patent Filing Companies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Company ranking is based on the normalized Current Assignee First field in the dataset.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097280"/>
          <a:ext cx="68122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097280"/>
          <a:ext cx="3931920" cy="484632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Records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LICENSING LLC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167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24.2%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TECH INC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22.9%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FORTINET INC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13.9%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PALO ALTO NETWORKS INC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13.9%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GOOGLE LLC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6.7%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RAPID7 INC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6.1%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 MICRO INC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3.9%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CYBERARK SOFTWARE LTD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1.9%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MCAFEE LLC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1.7%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SALESFORCE INC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1.5%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Technology Code Categories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CPC/IPC subclasses show concentration in communications, computing and security-adjacent technical domains.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143000"/>
          <a:ext cx="54406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355080" y="1143000"/>
          <a:ext cx="53492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58368" y="9326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Top CPC subclasses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92240" y="9326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Top IPC subclasses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Assignees by Category Mix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Stacked view shows how leading assignees distribute filings across the fixed 8-category taxonomy.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005840"/>
          <a:ext cx="11201400" cy="5166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Assignee v. Category Heatmap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Darker cells indicate stronger relative concentration within the top assignee/category matrix.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11567160" cy="4526280"/>
        </p:xfrm>
        <a:graphic>
          <a:graphicData uri="http://schemas.openxmlformats.org/drawingml/2006/table">
            <a:tbl>
              <a:tblPr/>
              <a:tblGrid>
                <a:gridCol w="1156716"/>
                <a:gridCol w="1156716"/>
                <a:gridCol w="1156716"/>
                <a:gridCol w="1156716"/>
                <a:gridCol w="1156716"/>
                <a:gridCol w="1156716"/>
                <a:gridCol w="1156716"/>
                <a:gridCol w="1156716"/>
                <a:gridCol w="1156716"/>
                <a:gridCol w="115671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Threat Detectio…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and Clo…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Vulnerability a…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 and Ac…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Model Securi…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Malware and Phi…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Automa…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and Privac…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LICENSIN…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167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TECH INC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158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FORTINET INC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PALO ALTO NETWORKS INC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GOOGLE LLC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RAPID7 INC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 MICRO INC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CYBERARK SOFTWARE LTD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0B122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797296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Read horizontally for each assignee’s technology focus; read vertically for competitive density within each category.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Yearly Patent Trend: Filing v. Publication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Publication records are heavily concentrated in recent years, while filing years show the underlying invention timing.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05156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7" name="Image 0" descr="/mnt/data/cyber_images/soc_dashboard.jpg">    </p:cNvPr>
          <p:cNvPicPr>
            <a:picLocks noChangeAspect="1"/>
          </p:cNvPicPr>
          <p:nvPr/>
        </p:nvPicPr>
        <p:blipFill>
          <a:blip r:embed="rId2"/>
          <a:srcRect l="2500" r="2500" t="0" b="0"/>
          <a:stretch/>
        </p:blipFill>
        <p:spPr>
          <a:xfrm>
            <a:off x="8275320" y="1097280"/>
            <a:ext cx="3474720" cy="1828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75320" y="324612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385048" y="3374136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264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385048" y="3712464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</a:rPr>
              <a:t>Peak publication year count</a:t>
            </a:r>
            <a:endParaRPr lang="en-US" sz="770" dirty="0"/>
          </a:p>
        </p:txBody>
      </p:sp>
      <p:sp>
        <p:nvSpPr>
          <p:cNvPr id="11" name="Shape 7"/>
          <p:cNvSpPr/>
          <p:nvPr/>
        </p:nvSpPr>
        <p:spPr>
          <a:xfrm>
            <a:off x="9921240" y="324612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030968" y="3374136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213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0030968" y="3712464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</a:rPr>
              <a:t>Peak filing year count</a:t>
            </a:r>
            <a:endParaRPr lang="en-US" sz="770" dirty="0"/>
          </a:p>
        </p:txBody>
      </p:sp>
      <p:sp>
        <p:nvSpPr>
          <p:cNvPr id="14" name="Text 10"/>
          <p:cNvSpPr/>
          <p:nvPr/>
        </p:nvSpPr>
        <p:spPr>
          <a:xfrm>
            <a:off x="8275320" y="46177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Interpretation note: filings precede publications; publication-year charts should not be read as exact R&amp;D start dates.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Filing Year Trend by Category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Each category retains the same standard label and color used throughout the deck.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960120"/>
          <a:ext cx="1120140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Filing Year Category Composition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Stacked view reveals category mix by filing year rather than only total annual volume.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960120"/>
          <a:ext cx="1120140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Publication Year Trend by Category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Publication-year category trends show the visible public disclosure wave in this dataset.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960120"/>
          <a:ext cx="1120140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Publication Year Trend by Top Companies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Top assignee trend lines compare public disclosure intensity across leading applicants.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960120"/>
          <a:ext cx="1120140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Filing Year Trend by Top Companies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Filing-year company trends show when major applicants generated the underlying patent records.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960120"/>
          <a:ext cx="1120140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Country Coverage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Country code distribution reflects publication/application authority in the provided records.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097280"/>
          <a:ext cx="58521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903720" y="1143000"/>
          <a:ext cx="4572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Forward Citation Signal by Category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Citation measures are indicative only; they are not legal-value or validity measures.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05156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143000"/>
          <a:ext cx="4251960" cy="438912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Forward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Max Forward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Threat Detection and Respon…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1.74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and Cloud Security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Vulnerability and Risk Mana…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1.31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 and Access Managem…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Model Security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Malware and Phishing Defense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Automation and Tes…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2.35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and Privacy Protection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Forward Citation Leaders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Top records by forward citation count, using cited count as secondary sorting signal.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932688"/>
          <a:ext cx="11521440" cy="5321808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Rank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Publication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Title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Assignee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Fwd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US11647034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Service access data enrichment for cybersecurity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LICENSING…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Threat Detection and Re…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109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US11783062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Risk-based access to computing environment secr…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LICENSING…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and Privacy Protec…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US20230259632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Response activity-based security coverage manag…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LICENSING…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Threat Detection and Re…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US20230370452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Networked device security posture management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LICENSING…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and Cloud Secur…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US11888870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Multitenant sharing anomaly cyberattack campaig…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LICENSING…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Threat Detection and Re…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US11620379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Methods and apparatus for detecting and prevent…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GOOGLE LLC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Automation and…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US11907368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Graph-based anomaly detection for cybersecurity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 MICRO INC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Threat Detection and Re…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US12003541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Identifying serverless functions with over-perm…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PALO ALTO NETWORKS INC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 and Access Man…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US20240403437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 api vulnerability assessments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TECH INC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Vulnerability and Risk 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US11556640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Systems and methods for automated cybersecurity…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GOOGLE LLC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Threat Detection and Re…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</a:t>
                      </a:r>
                      <a:endParaRPr lang="en-US" sz="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10 Problems and Technology Directions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Problem themes are derived from recurring signals in title, abstract, claim and category evidence fields.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960120"/>
          <a:ext cx="51206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960120"/>
          <a:ext cx="5943600" cy="5120640"/>
        </p:xfrm>
        <a:graphic>
          <a:graphicData uri="http://schemas.openxmlformats.org/drawingml/2006/table">
            <a:tbl>
              <a:tblPr/>
              <a:tblGrid>
                <a:gridCol w="2971800"/>
                <a:gridCol w="29718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Direction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and device anomaly detection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multivariate and graph/sequence models to detect anomalous behavior across network,…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Alert overload and SOC response prior…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 from static alerts to explainable, ranked incident queues with recommended follow-…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Identity, credential and access abuse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Shift toward continuous access-risk scoring, least-privilege remediation and context-aw…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 workload and configuration prot…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Correlate workload posture, runtime behavior and policy state to prevent misconfigurati…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Risk, vulnerability and exposure prio…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Combine exploit context, asset criticality and threat intelligence to produce actionabl…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LLM/prompt attacks and generative AI 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guardrails, prompt/classification models and verification layers for GenAI output…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Automated remediation and security wo…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Convert detections into auditable automated actions, policy corrections and rollback-ca…</a:t>
                      </a:r>
                      <a:endParaRPr lang="en-US" sz="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Signal v. Category Direction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This view connects leading problem signals to likely patentable technical directions.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27889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612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B1220"/>
                </a:solidFill>
              </a:rPr>
              <a:t>Network and device anomaly detection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3566160" y="1216152"/>
            <a:ext cx="411480" cy="32004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051560"/>
            <a:ext cx="72237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133856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</a:rPr>
              <a:t>Use multivariate and graph/sequence models to detect anomalous behavior across network, endpoint and edge telemetry.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594360" y="2039112"/>
            <a:ext cx="27889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488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B1220"/>
                </a:solidFill>
              </a:rPr>
              <a:t>Alert overload and SOC response priorit…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3566160" y="2203704"/>
            <a:ext cx="411480" cy="32004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2039112"/>
            <a:ext cx="72237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121408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</a:rPr>
              <a:t>Move from static alerts to explainable, ranked incident queues with recommended follow-on actions and analyst feedback loops.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594360" y="3026664"/>
            <a:ext cx="27889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363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B1220"/>
                </a:solidFill>
              </a:rPr>
              <a:t>Identity, credential and access abuse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3566160" y="3191256"/>
            <a:ext cx="411480" cy="32004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3026664"/>
            <a:ext cx="72237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310896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</a:rPr>
              <a:t>Shift toward continuous access-risk scoring, least-privilege remediation and context-aware authentication.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594360" y="4014216"/>
            <a:ext cx="27889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239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B1220"/>
                </a:solidFill>
              </a:rPr>
              <a:t>Cloud workload and configuration protec…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3566160" y="4178808"/>
            <a:ext cx="411480" cy="32004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4014216"/>
            <a:ext cx="72237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4096512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</a:rPr>
              <a:t>Correlate workload posture, runtime behavior and policy state to prevent misconfiguration and over-permissioning.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594360" y="5001768"/>
            <a:ext cx="27889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11149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B1220"/>
                </a:solidFill>
              </a:rPr>
              <a:t>Risk, vulnerability and exposure priori…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3566160" y="5166360"/>
            <a:ext cx="411480" cy="32004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5001768"/>
            <a:ext cx="72237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5084064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</a:rPr>
              <a:t>Combine exploit context, asset criticality and threat intelligence to produce actionable exposure scores.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Representative Patents by Category 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Two high-signal patents are selected for each category by forward citation count and backward citation count.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914400"/>
          <a:ext cx="11539728" cy="5303520"/>
        </p:xfrm>
        <a:graphic>
          <a:graphicData uri="http://schemas.openxmlformats.org/drawingml/2006/table">
            <a:tbl>
              <a:tblPr/>
              <a:tblGrid>
                <a:gridCol w="2307946"/>
                <a:gridCol w="2307946"/>
                <a:gridCol w="2307946"/>
                <a:gridCol w="2307946"/>
                <a:gridCol w="2307946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Publication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Title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Assignee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Fwd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Threat Detection and Re…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US11647034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Service access data enrichment for cybersecurity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109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Threat Detection and Re…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US20230259632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Response activity-based security coverage management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and Cloud Secur…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US20230370452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Networked device security posture management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and Cloud Secur…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US20250317739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Deep learning-based wireless intrusion detection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TECH INC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Vulnerability and Risk 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US20240403437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 api vulnerability assessments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TECH INC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Vulnerability and Risk 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US20250047701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Asset security and risk posture visualization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PALO ALTO NETWORKS INC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 and Access Man…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US12003541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Identifying serverless functions with over-permissive…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PALO ALTO NETWORKS INC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 and Access Man…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US20250080561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Monitoring and classification of activity requested d…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CYBERARK SOFTWARE LTD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Representative Patents by Category II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Continuation of the two-per-category representative patent selection.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914400"/>
          <a:ext cx="11539728" cy="5303520"/>
        </p:xfrm>
        <a:graphic>
          <a:graphicData uri="http://schemas.openxmlformats.org/drawingml/2006/table">
            <a:tbl>
              <a:tblPr/>
              <a:tblGrid>
                <a:gridCol w="2307946"/>
                <a:gridCol w="2307946"/>
                <a:gridCol w="2307946"/>
                <a:gridCol w="2307946"/>
                <a:gridCol w="2307946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Publication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Title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Assignee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Fwd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Model Security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US20250181836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Systems and methods for jailbreaking black-box large 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ROBUST INTELLIGENCE INC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Model Security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US20250335795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Unstructured data extraction with large language mode…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PALO ALTO NETWORKS INC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Malware and Phishing De…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US12003535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Phishing URL detection using transformers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Malware and Phishing De…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US11687652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Clustering of binary files using architecture-agnosti…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 MICRO INC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Automation and…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US11620379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Methods and apparatus for detecting and preventing ob…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GOOGLE LLC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Automation and…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US11550911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Multi-representational learning models for static ana…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PALO ALTO NETWORKS INC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and Privacy Protec…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US11783062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Risk-based access to computing environment secrets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TECH LICENSIN…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and Privacy Protec…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US11921820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Real-time minimal vector labeling scheme for supervis…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FORTINET INC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6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Ideation Opportunities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Opportunity themes are framed as patentable technical directions from the observed landscape.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166360" cy="12984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0642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</a:rPr>
              <a:t>LLM security control plane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13990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Claim around policy-driven prompt inspection, tool-call verification, output validation and audit trails.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98424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GenAI/LLM category and LLM risk problem counts.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6217920" y="960120"/>
            <a:ext cx="5166360" cy="12984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10642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</a:rPr>
              <a:t>Explainable autonomous SOC triage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82512" y="13990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Rank incidents using evidence graphs, generate response actions, and capture analyst feedback for model updates.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82512" y="198424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Alert overload/SOC response theme.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94360" y="2624328"/>
            <a:ext cx="5166360" cy="12984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770632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</a:rPr>
              <a:t>Exposure-aware vulnerability prioriti…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" y="30632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Fuse asset criticality, exploit proof, threat-intel recency and compensating controls into a dynamic priority score.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58952" y="364845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Vulnerability and exposure category.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6217920" y="2624328"/>
            <a:ext cx="5166360" cy="12984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770632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</a:rPr>
              <a:t>Least-privilege remediation for cloud…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82512" y="30632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Recommend and verify minimal permission changes using observed runtime behavior and policy simulation.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82512" y="364845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Identity and cloud problem counts.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594360" y="4288536"/>
            <a:ext cx="5166360" cy="12984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43484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</a:rPr>
              <a:t>Synthetic malware/phishing hardening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" y="4727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Generate safe synthetic variants, evaluate detector drift and update classifiers without live harmful samples.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58952" y="531266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Malware/phishing category plus GenAI signals.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6217920" y="4288536"/>
            <a:ext cx="5166360" cy="12984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43484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</a:rPr>
              <a:t>Privacy-preserving threat intelligenc…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82512" y="4727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Federated or privacy-preserving telemetry exchange for cross-tenant threat models without exposing raw logs.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82512" y="531266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Data/privacy category count.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Category-Specific White Space Directions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Directions are structured to preserve the same 8-category vocabulary used in the landscape.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32688"/>
            <a:ext cx="53492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32688"/>
            <a:ext cx="109728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05156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Threat Detection and Response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22376" y="13441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</a:rPr>
              <a:t>Explainable autonomous SOC triage, multi-source correlation, analyst feedback learning.</a:t>
            </a:r>
            <a:endParaRPr lang="en-US" sz="790" dirty="0"/>
          </a:p>
        </p:txBody>
      </p:sp>
      <p:sp>
        <p:nvSpPr>
          <p:cNvPr id="10" name="Shape 8"/>
          <p:cNvSpPr/>
          <p:nvPr/>
        </p:nvSpPr>
        <p:spPr>
          <a:xfrm>
            <a:off x="6217920" y="932688"/>
            <a:ext cx="53492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932688"/>
            <a:ext cx="109728" cy="9326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05156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Network and Cloud Security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37376" y="13441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</a:rPr>
              <a:t>Cloud posture graph analytics, edge anomaly baselining, zero-trust telemetry scoring.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502920" y="2194560"/>
            <a:ext cx="53492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194560"/>
            <a:ext cx="109728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23134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Vulnerability and Risk Management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2376" y="26060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</a:rPr>
              <a:t>Exploitability prediction, patch prioritization, exposure graph simulation.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6217920" y="2194560"/>
            <a:ext cx="53492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194560"/>
            <a:ext cx="109728" cy="9326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3134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Identity and Access Management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37376" y="26060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</a:rPr>
              <a:t>Behavioral identity risk, adaptive access, secret-use anomaly detection.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502920" y="3456432"/>
            <a:ext cx="53492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56432"/>
            <a:ext cx="109728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35753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AI Model Security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22376" y="38679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</a:rPr>
              <a:t>Prompt-injection controls, model misuse detection, adversarial robustness monitoring.</a:t>
            </a:r>
            <a:endParaRPr lang="en-US" sz="790" dirty="0"/>
          </a:p>
        </p:txBody>
      </p:sp>
      <p:sp>
        <p:nvSpPr>
          <p:cNvPr id="26" name="Shape 24"/>
          <p:cNvSpPr/>
          <p:nvPr/>
        </p:nvSpPr>
        <p:spPr>
          <a:xfrm>
            <a:off x="6217920" y="3456432"/>
            <a:ext cx="53492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456432"/>
            <a:ext cx="109728" cy="9326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35753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Malware and Phishing Defense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37376" y="38679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</a:rPr>
              <a:t>Multimodal phishing detection, malicious URL prediction, campaign clustering.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502920" y="4718304"/>
            <a:ext cx="53492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718304"/>
            <a:ext cx="109728" cy="9326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" y="48371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Security Automation and Testing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2376" y="51297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</a:rPr>
              <a:t>AI-assisted pentest planning, automated evidence validation, DevSecOps guardrails.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6217920" y="4718304"/>
            <a:ext cx="53492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4718304"/>
            <a:ext cx="109728" cy="9326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48371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Data and Privacy Protection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37376" y="51297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</a:rPr>
              <a:t>Privacy-preserving analytics, data-leak prevention, cryptographic policy enforcement.</a:t>
            </a:r>
            <a:endParaRPr lang="en-US" sz="790" dirty="0"/>
          </a:p>
        </p:txBody>
      </p:sp>
      <p:sp>
        <p:nvSpPr>
          <p:cNvPr id="38" name="Text 36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Combination Dashboard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143000"/>
          <a:ext cx="31089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703320" y="1143000"/>
          <a:ext cx="36576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7818120" y="1143000"/>
          <a:ext cx="3886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3" descr=""/>
          <p:cNvGraphicFramePr/>
          <p:nvPr/>
        </p:nvGraphicFramePr>
        <p:xfrm>
          <a:off x="685800" y="3886200"/>
          <a:ext cx="108356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 3"/>
          <p:cNvSpPr/>
          <p:nvPr/>
        </p:nvSpPr>
        <p:spPr>
          <a:xfrm>
            <a:off x="621792" y="9326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Category share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3886200" y="9326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Top assignees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046720" y="9326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Yearly trend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868680" y="3685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Forward citation signal by category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Landscape Takeaways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dataset shows concentrated competition, strong threat-detection density and identifiable invention opportunities.</a:t>
            </a:r>
            <a:endParaRPr lang="en-US" sz="950" dirty="0"/>
          </a:p>
        </p:txBody>
      </p:sp>
      <p:pic>
        <p:nvPicPr>
          <p:cNvPr id="6" name="Image 0" descr="/mnt/data/cyber_images/datacenter_lock.jpg">    </p:cNvPr>
          <p:cNvPicPr>
            <a:picLocks noChangeAspect="1"/>
          </p:cNvPicPr>
          <p:nvPr/>
        </p:nvPicPr>
        <p:blipFill>
          <a:blip r:embed="rId1"/>
          <a:srcRect l="0" r="0" t="4348" b="4348"/>
          <a:stretch/>
        </p:blipFill>
        <p:spPr>
          <a:xfrm>
            <a:off x="7498080" y="960120"/>
            <a:ext cx="420624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005840"/>
            <a:ext cx="63550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143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70432" y="107899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Threat Detection and Response dominates the dataset with 258 records, followed by Network and Cloud Security with 146 records.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0080" y="1993392"/>
            <a:ext cx="63550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1305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70432" y="206654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The top assignees show strong concentration, especially Microsoft and Cisco, but category focus differs materially across companies.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40080" y="2980944"/>
            <a:ext cx="63550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1181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70432" y="3054096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Yearly trend views should be separated into filing-year and publication-year perspectives because they answer different questions.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640080" y="3968496"/>
            <a:ext cx="63550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1056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70432" y="4041648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White-space opportunities are strongest where enterprise AI security, SOC automation, vulnerability prioritization and privacy-preserving controls intersect.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7543800" y="41605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Data integrity statement: category counts reconcile exactly to 689 records; every chart uses the same eight standard category labels.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" y="65379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AI-driven cybersecurity patent landscape | 689 patent records | 8-category standard taxonomy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33856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Cybersecurity Patent Landscape</dc:title>
  <dc:subject>AI Cybersecurity Patent Landscape</dc:subject>
  <dc:creator>OpenAI</dc:creator>
  <cp:lastModifiedBy>OpenAI</cp:lastModifiedBy>
  <cp:revision>1</cp:revision>
  <dcterms:created xsi:type="dcterms:W3CDTF">2026-07-02T10:40:37Z</dcterms:created>
  <dcterms:modified xsi:type="dcterms:W3CDTF">2026-07-02T10:40:37Z</dcterms:modified>
</cp:coreProperties>
</file>