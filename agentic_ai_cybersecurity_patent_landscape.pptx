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42"/>
          </a:solidFill>
          <a:ln>
            <a:solidFill>
              <a:srgbClr val="0F2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" cy="438912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60120"/>
            <a:ext cx="10424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AI-Driven Cybersecurity Patent Landscape</a:t>
            </a:r>
          </a:p>
          <a:p>
            <a:pPr>
              <a:defRPr sz="1800">
                <a:solidFill>
                  <a:srgbClr val="DCE6F1"/>
                </a:solidFill>
              </a:defRPr>
            </a:pPr>
            <a:r>
              <a:t>Agentic AI dataset landscape using the prior 8-category framework</a:t>
            </a:r>
          </a:p>
          <a:p>
            <a:pPr>
              <a:defRPr sz="1400">
                <a:solidFill>
                  <a:srgbClr val="DCE6F1"/>
                </a:solidFill>
              </a:defRPr>
            </a:pPr>
            <a:r>
              <a:t>Dataset: IPCyberPatentWithAgenticAIExport-20260630.xlsx | Records analyzed: 635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2194560" cy="1234440"/>
          </a:xfrm>
          <a:prstGeom prst="roundRect">
            <a:avLst/>
          </a:prstGeom>
          <a:solidFill>
            <a:srgbClr val="1F4E7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2519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635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Patent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4114800"/>
            <a:ext cx="2194560" cy="1234440"/>
          </a:xfrm>
          <a:prstGeom prst="roundRect">
            <a:avLst/>
          </a:prstGeom>
          <a:solidFill>
            <a:srgbClr val="1F4E7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42519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41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Assignees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194560" cy="1234440"/>
          </a:xfrm>
          <a:prstGeom prst="roundRect">
            <a:avLst/>
          </a:prstGeom>
          <a:solidFill>
            <a:srgbClr val="1F4E7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2519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11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Jurisdictions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114800"/>
            <a:ext cx="2194560" cy="1234440"/>
          </a:xfrm>
          <a:prstGeom prst="roundRect">
            <a:avLst/>
          </a:prstGeom>
          <a:solidFill>
            <a:srgbClr val="1F4E7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23960" y="425196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2023–2026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Publication years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The dataset contains 635 patent records across 41 assignees and 11 jurisdictions.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The largest category is Threat Detection and Response with 106 records (16.7% of the dataset).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The top three assignees are ZSCALER INC, MICROSOFT TECH LICENSING LLC, CISCO TECH INC, together accounting for 300 patents.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Publication activity is concentrated in 2025, while filing activity peaks in 2024.</a:t>
            </a:r>
          </a:p>
          <a:p>
            <a:pPr>
              <a:spcAft>
                <a:spcPts val="800"/>
              </a:spcAft>
              <a:defRPr sz="1800">
                <a:solidFill>
                  <a:srgbClr val="202020"/>
                </a:solidFill>
              </a:defRPr>
            </a:pPr>
            <a:r>
              <a:t>The same 8 standard categories used in the earlier landscape have been retained for consistency across graphs and tables.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Scope and Standard Category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BDC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9834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Scope: AI-driven cybersecurity patents in the uploaded agentic AI dataset.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Unit of analysis: 635 patent records using publication, filing, assignee, CPC, abstract, and claims metadata.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Method: Each record was mapped to one primary category using the same 8-category framework used in the previous landscape.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 purpose is comparative portfolio analysis, not legal validity or infringement assessment.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BDC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Fixed Standard 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9834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1. Threat Detection and Response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2. Network and Cloud Security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3. Vulnerability and Risk Management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4. Identity and Access Management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5. AI Model Security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6. Malware and Phishing Defense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7. Security Automation and Testing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8. Data and Privacy Protection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Patent Distribution by Standard Category</a:t>
            </a:r>
          </a:p>
        </p:txBody>
      </p:sp>
      <p:pic>
        <p:nvPicPr>
          <p:cNvPr id="3" name="Picture 2" descr="01_catego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Each patent is assigned to exactly one of the 8 standard categories.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view shows absolute concentration by category.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Threat Detection, Identity, and Network/Cloud dominate the portfolio.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Category Share of Portfolio</a:t>
            </a:r>
          </a:p>
        </p:txBody>
      </p:sp>
      <p:pic>
        <p:nvPicPr>
          <p:cNvPr id="3" name="Picture 2" descr="02_category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Share view of the same category distribution.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Useful for relative comparison of category weight.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All categories remain consistent with the prior taxonomy.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10 Assignees by Patent Count</a:t>
            </a:r>
          </a:p>
        </p:txBody>
      </p:sp>
      <p:pic>
        <p:nvPicPr>
          <p:cNvPr id="3" name="Picture 2" descr="03_assigne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 portfolio is led by a concentrated group of cybersecurity-focused assignees.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ZSCALER, MICROSOFT, and CISCO are the largest filers in this dataset.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 long tail contains smaller but still relevant contributors.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Assignees and Cumulative Share</a:t>
            </a:r>
          </a:p>
        </p:txBody>
      </p:sp>
      <p:pic>
        <p:nvPicPr>
          <p:cNvPr id="3" name="Picture 2" descr="04_assignee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Pareto view shows concentration across the largest assignees.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 cumulative line indicates how quickly the portfolio clusters among top filers.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helps assess how concentrated the competitive landscape 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CPC Technology Classes</a:t>
            </a:r>
          </a:p>
        </p:txBody>
      </p:sp>
      <p:pic>
        <p:nvPicPr>
          <p:cNvPr id="3" name="Picture 2" descr="05_cp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graph uses CPC Subclass First as a standardized patent classification signal.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H04L and G06F dominate, reflecting networking, communications, and computing-heavy cybersecurity inventions.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These CPC classes complement the custom 8-category taxonomy.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Assignees by Category Mix</a:t>
            </a:r>
          </a:p>
        </p:txBody>
      </p:sp>
      <p:pic>
        <p:nvPicPr>
          <p:cNvPr id="3" name="Picture 2" descr="06_assignee_category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Shows how each major assignee distributes its filings across the 8 categories.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Some assignees are diversified, while others are more concentrated in identity, network, or threat-focused themes.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is useful for white-space and benchmarking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Assignee vs Category Heatmap</a:t>
            </a:r>
          </a:p>
        </p:txBody>
      </p:sp>
      <p:pic>
        <p:nvPicPr>
          <p:cNvPr id="3" name="Picture 2" descr="07_assignee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Heat intensity indicates where company-category concentration is strongest.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view helps identify category leaders and portfolio specializations at a glance.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Use alongside the stacked bar for both exact counts and relative patterns.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Publication Year Trend</a:t>
            </a:r>
          </a:p>
        </p:txBody>
      </p:sp>
      <p:pic>
        <p:nvPicPr>
          <p:cNvPr id="3" name="Picture 2" descr="08_pub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Counts are based on publication year in the uploaded dataset.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 chart shows the timing of visible patent disclosures over time.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Recent publication concentration reflects the recency of the dataset.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Filing Year Trend (Application Year)</a:t>
            </a:r>
          </a:p>
        </p:txBody>
      </p:sp>
      <p:pic>
        <p:nvPicPr>
          <p:cNvPr id="3" name="Picture 2" descr="09_filing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Counts are based on application year, which is the best filing-year proxy in the dataset.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indicates when inventions were filed, rather than when they became public.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It is useful for understanding innovation timing.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Earliest Priority Year Trend</a:t>
            </a:r>
          </a:p>
        </p:txBody>
      </p:sp>
      <p:pic>
        <p:nvPicPr>
          <p:cNvPr id="3" name="Picture 2" descr="10_priorit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Priority year helps show the earliest claimed invention timing.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can reveal whether a portfolio is rooted in earlier inventions or recent acceleration.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Here, most priority activity is concentrated in recent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Publication Trend by Category</a:t>
            </a:r>
          </a:p>
        </p:txBody>
      </p:sp>
      <p:pic>
        <p:nvPicPr>
          <p:cNvPr id="3" name="Picture 2" descr="11_pub_a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Stacked area view shows how category composition changes across publication years.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It helps compare both total volume and changing category mix.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is a strong visual for portfolio evolution.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Filing Year Trend by Category</a:t>
            </a:r>
          </a:p>
        </p:txBody>
      </p:sp>
      <p:pic>
        <p:nvPicPr>
          <p:cNvPr id="3" name="Picture 2" descr="12_filing_multi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Multi-line view tracks yearly filing patterns for each category.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directly answers how each category trends over time.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It is one of the most important charts for technology-direction analysis.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Filing Year by Category (Grouped View)</a:t>
            </a:r>
          </a:p>
        </p:txBody>
      </p:sp>
      <p:pic>
        <p:nvPicPr>
          <p:cNvPr id="3" name="Picture 2" descr="13_filing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Grouped bars provide the same filing-year data in an alternate comparison format.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helps compare categories year-by-year using discrete bars.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Useful where line charts make overlaps harder to read.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Filing Year x Category Heatmap</a:t>
            </a:r>
          </a:p>
        </p:txBody>
      </p:sp>
      <p:pic>
        <p:nvPicPr>
          <p:cNvPr id="3" name="Picture 2" descr="14_filin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heatmap compresses the filing-year/category trend into a matrix.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It helps spot year-category hotspots immediately.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Use it as a compact alternative to the line and grouped charts.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Publication Trend of Top 5 Assignees</a:t>
            </a:r>
          </a:p>
        </p:txBody>
      </p:sp>
      <p:pic>
        <p:nvPicPr>
          <p:cNvPr id="3" name="Picture 2" descr="15_top5_assignee_pub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graph tracks how top assignees appear across publication years.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It helps identify which companies are accelerating or sustaining patent output.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 graph is limited to the top 5 assignees for readability.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Jurisdiction Distribution (Top Countries)</a:t>
            </a:r>
          </a:p>
        </p:txBody>
      </p:sp>
      <p:pic>
        <p:nvPicPr>
          <p:cNvPr id="3" name="Picture 2" descr="16_countr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Country codes are taken directly from the dataset.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US dominates the set, followed by WO and EP publications.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shows geographic publication emphasis, not necessarily market coverage.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Assignees: Volume vs Average Citation</a:t>
            </a:r>
          </a:p>
        </p:txBody>
      </p:sp>
      <p:pic>
        <p:nvPicPr>
          <p:cNvPr id="3" name="Picture 2" descr="17_assigne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Bubble size indicates patent count and the y-axis shows average cited patent count.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This combines scale and influence into one view.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It helps compare portfolio size with backward-citation intensity.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Problem Themes in the Dataset</a:t>
            </a:r>
          </a:p>
        </p:txBody>
      </p:sp>
      <p:pic>
        <p:nvPicPr>
          <p:cNvPr id="3" name="Picture 2" descr="18_problem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98079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138160" y="1143000"/>
            <a:ext cx="3566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Problem themes were derived from recurring technical terms in titles, abstracts, and claims.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These are directional signals, useful for identifying common technical problem statements.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They complement the formal category classification.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Category and Assignee Tables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11480" y="1097280"/>
          <a:ext cx="55778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Patent Count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Share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Threat Detection and Response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16.7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Network and Cloud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24.3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Vulnerability and Risk Management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13.9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Identity and Access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164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25.8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AI Model Security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Malware and Phishing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7.6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Security Automation and Testing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6.3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Data and Privacy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02020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72200" y="1097280"/>
          <a:ext cx="55778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379827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Assignee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Patent Count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Share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ZSCALER INC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17.3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MICROSOFT TECH LICENSING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15.4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CISCO TECH INC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14.5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PALO ALTO NETWORKS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10.6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CROWDSTRIKE INC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10.1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FORTINET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7.7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GOOGLE LLC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INTEL CORP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ORACLE INTL CORP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TREND MICRO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</a:tr>
              <a:tr h="379827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MELLANOX TECH LTD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79836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CYBERARK SOFTWARE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202020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Selected Important Patents by Category (1-4)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3327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Threat Detection and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US12652302 | FORTINET INC | Pub. 2026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Alert generation and augmentation using a large language model (‘LLM’)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609 | Citing: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US12659333 | FORTINET INC | Pub. 2026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Gamification of an anomaly detection framework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565 | Citing: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6012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03327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Network and Cloud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3441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US12363151 | SENTINEL LABS ISRAEL LTD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Methods, systems, and devices for dynamically modeling and grouping endpoints for...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615 | Citing: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2128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US11949577 | ZSCALER INC | Pub. 2024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Determining the path of user datagram protocol (UDP) traceroute probes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59 | Citing: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3075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Vulnerability and Risk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416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US20250047701 | PALO ALTO NETWORKS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Asset security and risk posture visualization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44 | Citing: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9103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US20250298888 | PALO ALTO NETWORKS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Training a model based on soft labeling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54 | Citing: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73075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Identity and Access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40416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US12659326 | FORTINET INC | Pub. 2026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Agentless disk scanning in cloud environment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594 | Citing: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9103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US12445474 | FORTINET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Attack path risk mitigation by a data platform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461 | Citing: 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Selected using category assignment plus citation-based impact indicators from the dataset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Selected Important Patents by Category (5-8)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3327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AI Model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441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US20250181836 | ROBUST INTELLIGENCE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Systems and methods for jailbreaking black-box large language models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7 | Citing: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128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US12476993 | CYBERARK SOFTWARE LTD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Detection and prevention of adversarial attacks against large language models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16 | Citing: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96012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6208" y="103327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Malware and Phishing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8" y="134416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US12069087 | GOOGLE LLC | Pub. 2024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System and method for analyzing binary code for malware classification using...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729 | Citing: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22128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US12468810 | SENTINELONE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Classifying cybersecurity threats using machine learning on non-euclidean data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620 | Citing: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73075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Security Automation and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416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US12452314 | ZSCALER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Dynamically reconfigurable traffic inspection pipeline in zero trust networks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35 | Citing: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9103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US12464001 | ZSCALER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Multi-cloud network analysis and threat intelligence correlation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22 | Citing: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548640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4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3730752"/>
            <a:ext cx="5212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1F4E79"/>
                </a:solidFill>
              </a:defRPr>
            </a:pPr>
            <a:r>
              <a:t>Data and Privacy Protection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6208" y="404164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US12355740 | FORTINET INC | Pub. 2025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Non-interfering access layer end-to-end encryption for IOT devices over a data...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176 | Citing: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4910328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02020"/>
                </a:solidFill>
              </a:defRPr>
            </a:pPr>
            <a:r>
              <a:t>US12580894 | ZSCALER INC | Pub. 2026</a:t>
            </a:r>
          </a:p>
          <a:p>
            <a:pPr>
              <a:defRPr sz="900">
                <a:solidFill>
                  <a:srgbClr val="202020"/>
                </a:solidFill>
              </a:defRPr>
            </a:pPr>
            <a:r>
              <a:t>Systems and methods for a hypertext transfer protocol secure (HTTPS) proxy service</a:t>
            </a:r>
          </a:p>
          <a:p>
            <a:pPr>
              <a:defRPr sz="900">
                <a:solidFill>
                  <a:srgbClr val="595959"/>
                </a:solidFill>
              </a:defRPr>
            </a:pPr>
            <a:r>
              <a:t>Cited: 29 | Citing: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Selected using category assignment plus citation-based impact indicators from the dataset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Top Problems and Direction of Innovation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188720"/>
            <a:ext cx="539496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BDC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Observed Problem Themes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9834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Threat and anomaly detection remains the single most repeated technical problem signal.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Network, cloud, and workload protection continue to be major design targets.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Identity, access control, and adaptive trust are strong solution directions across enterprise security.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Risk posture, exposure management, and attack-path analytics are notable problem clusters.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4846320"/>
          </a:xfrm>
          <a:prstGeom prst="roundRect">
            <a:avLst/>
          </a:prstGeom>
          <a:solidFill>
            <a:srgbClr val="F5F8FC"/>
          </a:solidFill>
          <a:ln>
            <a:solidFill>
              <a:srgbClr val="BDC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F4E79"/>
                </a:solidFill>
              </a:defRPr>
            </a:pPr>
            <a:r>
              <a:t>Likely Technology Direction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9834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Direction 1: More context-aware detection and response systems.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Direction 2: Greater cloud-native and zero-trust security integration.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Direction 3: Growing use of automation, orchestration, and agentic support.</a:t>
            </a:r>
          </a:p>
          <a:p>
            <a:pPr>
              <a:spcAft>
                <a:spcPts val="800"/>
              </a:spcAft>
              <a:defRPr sz="1400">
                <a:solidFill>
                  <a:srgbClr val="202020"/>
                </a:solidFill>
              </a:defRPr>
            </a:pPr>
            <a:r>
              <a:t>Direction 4: Emerging but smaller focus on privacy-safe analytics and AI-model-specific protection.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Ideation Opportunities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05840"/>
            <a:ext cx="11155680" cy="5394960"/>
          </a:xfrm>
          <a:prstGeom prst="roundRect">
            <a:avLst/>
          </a:prstGeom>
          <a:solidFill>
            <a:srgbClr val="F5F8FC"/>
          </a:solidFill>
          <a:ln>
            <a:solidFill>
              <a:srgbClr val="BDCD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1. AI model guardrails for cybersecurity copilots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Low direct patent density in AI Model Security suggests room for prompt-injection defense, model provenance, and secure LLM orchestration.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2. Privacy-preserving security analytics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Data and Privacy Protection remains comparatively small, indicating whitespace in DLP, PII filtering, and privacy-safe threat analytics.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3. Automated security validation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Security Automation and Testing is still emerging relative to other categories, leaving room for agentic pentesting, remediation, and CI/CD assurance.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4. Cross-domain identity risk scoring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Identity and Access Management is active, but there is room for deeper adaptive trust and identity-to-asset risk correlation.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F4E79"/>
                </a:solidFill>
              </a:defRPr>
            </a:pPr>
            <a:r>
              <a:t>5. Attack-path aware cloud defense</a:t>
            </a:r>
          </a:p>
          <a:p>
            <a:pPr>
              <a:defRPr sz="1200">
                <a:solidFill>
                  <a:srgbClr val="202020"/>
                </a:solidFill>
              </a:defRPr>
            </a:pPr>
            <a:r>
              <a:t>Vulnerability and Risk Management plus Network and Cloud Security indicate opportunities at the intersection of attack-path analytics and cloud posture hardening.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11338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F2342"/>
                </a:solidFill>
              </a:rPr>
              <a:t>Data Source, Method,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Data source: IPCyberPatentWithAgenticAIExport-20260630.xlsx uploaded by the user.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Total records analyzed: 635 patent records on the sheet “Cyber Patent with Agentic AI Ex”.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Primary fields used: title, abstract, independent claims, publication date, application date, earliest priority date, assignee, CPC subclass, and country code.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Category consistency: The same 8 standard categories from the previous landscape were reused without renaming.</a:t>
            </a:r>
          </a:p>
          <a:p>
            <a:pPr>
              <a:spcAft>
                <a:spcPts val="800"/>
              </a:spcAft>
              <a:defRPr sz="1600">
                <a:solidFill>
                  <a:srgbClr val="202020"/>
                </a:solidFill>
              </a:defRPr>
            </a:pPr>
            <a:r>
              <a:t>Validation checks: record count reconciled to 635; category counts sum to 635; year trends and tables were generated from the categorized raw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EAF1FA"/>
          </a:solidFill>
          <a:ln>
            <a:solidFill>
              <a:srgbClr val="EA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37960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Source: IPCyberPatentWithAgenticAIExport-20260630.xlsx | Classification uses prior 8-category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