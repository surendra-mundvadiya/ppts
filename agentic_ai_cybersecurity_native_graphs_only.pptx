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0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6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7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8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9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0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3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377C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Threat Detection and Response</c:v>
                  </c:pt>
                  <c:pt idx="1">
                    <c:v>Network and Cloud Security</c:v>
                  </c:pt>
                  <c:pt idx="2">
                    <c:v>Vulnerability and Risk Management</c:v>
                  </c:pt>
                  <c:pt idx="3">
                    <c:v>Identity and Access Management</c:v>
                  </c:pt>
                  <c:pt idx="4">
                    <c:v>AI Model Security</c:v>
                  </c:pt>
                  <c:pt idx="5">
                    <c:v>Malware and Phishing Defense</c:v>
                  </c:pt>
                  <c:pt idx="6">
                    <c:v>Security Automation and Testing</c:v>
                  </c:pt>
                  <c:pt idx="7">
                    <c:v>Data and Privacy Protection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106</c:v>
                </c:pt>
                <c:pt idx="1">
                  <c:v>154</c:v>
                </c:pt>
                <c:pt idx="2">
                  <c:v>88</c:v>
                </c:pt>
                <c:pt idx="3">
                  <c:v>164</c:v>
                </c:pt>
                <c:pt idx="4">
                  <c:v>8</c:v>
                </c:pt>
                <c:pt idx="5">
                  <c:v>48</c:v>
                </c:pt>
                <c:pt idx="6">
                  <c:v>40</c:v>
                </c:pt>
                <c:pt idx="7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bubble3D val="0"/>
            <c:spPr>
              <a:solidFill>
                <a:srgbClr val="E377C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Threat Detection and Response</c:v>
                </c:pt>
                <c:pt idx="1">
                  <c:v>Network and Cloud Security</c:v>
                </c:pt>
                <c:pt idx="2">
                  <c:v>Vulnerability and Risk Management</c:v>
                </c:pt>
                <c:pt idx="3">
                  <c:v>Identity and Access Management</c:v>
                </c:pt>
                <c:pt idx="4">
                  <c:v>AI Model Security</c:v>
                </c:pt>
                <c:pt idx="5">
                  <c:v>Malware and Phishing Defense</c:v>
                </c:pt>
                <c:pt idx="6">
                  <c:v>Security Automation and Testing</c:v>
                </c:pt>
                <c:pt idx="7">
                  <c:v>Data and Privacy Protection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106</c:v>
                </c:pt>
                <c:pt idx="1">
                  <c:v>154</c:v>
                </c:pt>
                <c:pt idx="2">
                  <c:v>88</c:v>
                </c:pt>
                <c:pt idx="3">
                  <c:v>164</c:v>
                </c:pt>
                <c:pt idx="4">
                  <c:v>8</c:v>
                </c:pt>
                <c:pt idx="5">
                  <c:v>48</c:v>
                </c:pt>
                <c:pt idx="6">
                  <c:v>40</c:v>
                </c:pt>
                <c:pt idx="7">
                  <c:v>27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bubble3D val="0"/>
            <c:spPr>
              <a:solidFill>
                <a:srgbClr val="E377C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Threat Detection and Response</c:v>
                </c:pt>
                <c:pt idx="1">
                  <c:v>Network and Cloud Security</c:v>
                </c:pt>
                <c:pt idx="2">
                  <c:v>Vulnerability and Risk Management</c:v>
                </c:pt>
                <c:pt idx="3">
                  <c:v>Identity and Access Management</c:v>
                </c:pt>
                <c:pt idx="4">
                  <c:v>AI Model Security</c:v>
                </c:pt>
                <c:pt idx="5">
                  <c:v>Malware and Phishing Defense</c:v>
                </c:pt>
                <c:pt idx="6">
                  <c:v>Security Automation and Testing</c:v>
                </c:pt>
                <c:pt idx="7">
                  <c:v>Data and Privacy Protection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106</c:v>
                </c:pt>
                <c:pt idx="1">
                  <c:v>154</c:v>
                </c:pt>
                <c:pt idx="2">
                  <c:v>88</c:v>
                </c:pt>
                <c:pt idx="3">
                  <c:v>164</c:v>
                </c:pt>
                <c:pt idx="4">
                  <c:v>8</c:v>
                </c:pt>
                <c:pt idx="5">
                  <c:v>48</c:v>
                </c:pt>
                <c:pt idx="6">
                  <c:v>40</c:v>
                </c:pt>
                <c:pt idx="7">
                  <c:v>27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rgbClr val="4472C4"/>
            </a:solidFill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5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Threat Detection and Response</c:v>
                  </c:pt>
                  <c:pt idx="1">
                    <c:v>Network and Cloud Security</c:v>
                  </c:pt>
                  <c:pt idx="2">
                    <c:v>Vulnerability and Risk Management</c:v>
                  </c:pt>
                  <c:pt idx="3">
                    <c:v>Identity and Access Management</c:v>
                  </c:pt>
                  <c:pt idx="4">
                    <c:v>AI Model Security</c:v>
                  </c:pt>
                  <c:pt idx="5">
                    <c:v>Malware and Phishing Defense</c:v>
                  </c:pt>
                  <c:pt idx="6">
                    <c:v>Security Automation and Testing</c:v>
                  </c:pt>
                  <c:pt idx="7">
                    <c:v>Data and Privacy Protection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106</c:v>
                </c:pt>
                <c:pt idx="1">
                  <c:v>154</c:v>
                </c:pt>
                <c:pt idx="2">
                  <c:v>88</c:v>
                </c:pt>
                <c:pt idx="3">
                  <c:v>164</c:v>
                </c:pt>
                <c:pt idx="4">
                  <c:v>8</c:v>
                </c:pt>
                <c:pt idx="5">
                  <c:v>48</c:v>
                </c:pt>
                <c:pt idx="6">
                  <c:v>40</c:v>
                </c:pt>
                <c:pt idx="7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  <c:pt idx="10">
                    <c:v>MELLANOX TECH LTD</c:v>
                  </c:pt>
                  <c:pt idx="11">
                    <c:v>CYBERARK SOFTWARE LTD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110</c:v>
                </c:pt>
                <c:pt idx="1">
                  <c:v>98</c:v>
                </c:pt>
                <c:pt idx="2">
                  <c:v>92</c:v>
                </c:pt>
                <c:pt idx="3">
                  <c:v>67</c:v>
                </c:pt>
                <c:pt idx="4">
                  <c:v>64</c:v>
                </c:pt>
                <c:pt idx="5">
                  <c:v>49</c:v>
                </c:pt>
                <c:pt idx="6">
                  <c:v>30</c:v>
                </c:pt>
                <c:pt idx="7">
                  <c:v>16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Share %</c:v>
                </c:pt>
              </c:strCache>
            </c:strRef>
          </c:tx>
          <c:spPr>
            <a:solidFill>
              <a:srgbClr val="ED7D31"/>
            </a:solidFill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  <c:pt idx="10">
                    <c:v>MELLANOX TECH LTD</c:v>
                  </c:pt>
                  <c:pt idx="11">
                    <c:v>CYBERARK SOFTWARE LTD</c:v>
                  </c:pt>
                  <c:pt idx="12">
                    <c:v>VMWARE LLC</c:v>
                  </c:pt>
                  <c:pt idx="13">
                    <c:v>SALESFORCE INC</c:v>
                  </c:pt>
                  <c:pt idx="14">
                    <c:v>QUALCOMM INC</c:v>
                  </c:pt>
                  <c:pt idx="15">
                    <c:v>SENTINELONE INC</c:v>
                  </c:pt>
                  <c:pt idx="16">
                    <c:v>AVALOR TECH INC</c:v>
                  </c:pt>
                  <c:pt idx="17">
                    <c:v>NVIDIA CORP</c:v>
                  </c:pt>
                  <c:pt idx="18">
                    <c:v>IBM UK LTD</c:v>
                  </c:pt>
                  <c:pt idx="19">
                    <c:v>IBM DEUTSCHLAND GMBH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17.3</c:v>
                </c:pt>
                <c:pt idx="1">
                  <c:v>32.8</c:v>
                </c:pt>
                <c:pt idx="2">
                  <c:v>47.2</c:v>
                </c:pt>
                <c:pt idx="3">
                  <c:v>57.8</c:v>
                </c:pt>
                <c:pt idx="4">
                  <c:v>67.9</c:v>
                </c:pt>
                <c:pt idx="5">
                  <c:v>75.6</c:v>
                </c:pt>
                <c:pt idx="6">
                  <c:v>80.3</c:v>
                </c:pt>
                <c:pt idx="7">
                  <c:v>82.8</c:v>
                </c:pt>
                <c:pt idx="8">
                  <c:v>84.6</c:v>
                </c:pt>
                <c:pt idx="9">
                  <c:v>86.1</c:v>
                </c:pt>
                <c:pt idx="10">
                  <c:v>87.6</c:v>
                </c:pt>
                <c:pt idx="11">
                  <c:v>88.7</c:v>
                </c:pt>
                <c:pt idx="12">
                  <c:v>89.8</c:v>
                </c:pt>
                <c:pt idx="13">
                  <c:v>90.7</c:v>
                </c:pt>
                <c:pt idx="14">
                  <c:v>91.7</c:v>
                </c:pt>
                <c:pt idx="15">
                  <c:v>92.3</c:v>
                </c:pt>
                <c:pt idx="16">
                  <c:v>92.9</c:v>
                </c:pt>
                <c:pt idx="17">
                  <c:v>93.5</c:v>
                </c:pt>
                <c:pt idx="18">
                  <c:v>94</c:v>
                </c:pt>
                <c:pt idx="19">
                  <c:v>94.5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26</c:v>
                </c:pt>
                <c:pt idx="2">
                  <c:v>5</c:v>
                </c:pt>
                <c:pt idx="3">
                  <c:v>12</c:v>
                </c:pt>
                <c:pt idx="4">
                  <c:v>18</c:v>
                </c:pt>
                <c:pt idx="5">
                  <c:v>7</c:v>
                </c:pt>
                <c:pt idx="6">
                  <c:v>11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43</c:v>
                </c:pt>
                <c:pt idx="1">
                  <c:v>16</c:v>
                </c:pt>
                <c:pt idx="2">
                  <c:v>28</c:v>
                </c:pt>
                <c:pt idx="3">
                  <c:v>15</c:v>
                </c:pt>
                <c:pt idx="4">
                  <c:v>14</c:v>
                </c:pt>
                <c:pt idx="5">
                  <c:v>10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</c:v>
                </c:pt>
                <c:pt idx="1">
                  <c:v>16</c:v>
                </c:pt>
                <c:pt idx="2">
                  <c:v>26</c:v>
                </c:pt>
                <c:pt idx="3">
                  <c:v>11</c:v>
                </c:pt>
                <c:pt idx="4">
                  <c:v>8</c:v>
                </c:pt>
                <c:pt idx="5">
                  <c:v>4</c:v>
                </c:pt>
                <c:pt idx="6">
                  <c:v>4</c:v>
                </c:pt>
                <c:pt idx="7">
                  <c:v>0</c:v>
                </c:pt>
                <c:pt idx="8">
                  <c:v>1</c:v>
                </c:pt>
                <c:pt idx="9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36</c:v>
                </c:pt>
                <c:pt idx="1">
                  <c:v>23</c:v>
                </c:pt>
                <c:pt idx="2">
                  <c:v>26</c:v>
                </c:pt>
                <c:pt idx="3">
                  <c:v>11</c:v>
                </c:pt>
                <c:pt idx="4">
                  <c:v>10</c:v>
                </c:pt>
                <c:pt idx="5">
                  <c:v>18</c:v>
                </c:pt>
                <c:pt idx="6">
                  <c:v>3</c:v>
                </c:pt>
                <c:pt idx="7">
                  <c:v>6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9</c:v>
                </c:pt>
                <c:pt idx="4">
                  <c:v>10</c:v>
                </c:pt>
                <c:pt idx="5">
                  <c:v>3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7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4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26</c:v>
                </c:pt>
                <c:pt idx="2">
                  <c:v>5</c:v>
                </c:pt>
                <c:pt idx="3">
                  <c:v>12</c:v>
                </c:pt>
                <c:pt idx="4">
                  <c:v>18</c:v>
                </c:pt>
                <c:pt idx="5">
                  <c:v>7</c:v>
                </c:pt>
                <c:pt idx="6">
                  <c:v>11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43</c:v>
                </c:pt>
                <c:pt idx="1">
                  <c:v>16</c:v>
                </c:pt>
                <c:pt idx="2">
                  <c:v>28</c:v>
                </c:pt>
                <c:pt idx="3">
                  <c:v>15</c:v>
                </c:pt>
                <c:pt idx="4">
                  <c:v>14</c:v>
                </c:pt>
                <c:pt idx="5">
                  <c:v>10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</c:v>
                </c:pt>
                <c:pt idx="1">
                  <c:v>16</c:v>
                </c:pt>
                <c:pt idx="2">
                  <c:v>26</c:v>
                </c:pt>
                <c:pt idx="3">
                  <c:v>11</c:v>
                </c:pt>
                <c:pt idx="4">
                  <c:v>8</c:v>
                </c:pt>
                <c:pt idx="5">
                  <c:v>4</c:v>
                </c:pt>
                <c:pt idx="6">
                  <c:v>4</c:v>
                </c:pt>
                <c:pt idx="7">
                  <c:v>0</c:v>
                </c:pt>
                <c:pt idx="8">
                  <c:v>1</c:v>
                </c:pt>
                <c:pt idx="9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36</c:v>
                </c:pt>
                <c:pt idx="1">
                  <c:v>23</c:v>
                </c:pt>
                <c:pt idx="2">
                  <c:v>26</c:v>
                </c:pt>
                <c:pt idx="3">
                  <c:v>11</c:v>
                </c:pt>
                <c:pt idx="4">
                  <c:v>10</c:v>
                </c:pt>
                <c:pt idx="5">
                  <c:v>18</c:v>
                </c:pt>
                <c:pt idx="6">
                  <c:v>3</c:v>
                </c:pt>
                <c:pt idx="7">
                  <c:v>6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9</c:v>
                </c:pt>
                <c:pt idx="4">
                  <c:v>10</c:v>
                </c:pt>
                <c:pt idx="5">
                  <c:v>3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7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ZSCALER INC</c:v>
                  </c:pt>
                  <c:pt idx="1">
                    <c:v>MICROSOFT TECH LICENSING LLC</c:v>
                  </c:pt>
                  <c:pt idx="2">
                    <c:v>CISCO TECH INC</c:v>
                  </c:pt>
                  <c:pt idx="3">
                    <c:v>PALO ALTO NETWORKS INC</c:v>
                  </c:pt>
                  <c:pt idx="4">
                    <c:v>CROWDSTRIKE INC</c:v>
                  </c:pt>
                  <c:pt idx="5">
                    <c:v>FORTINET INC</c:v>
                  </c:pt>
                  <c:pt idx="6">
                    <c:v>GOOGLE LLC</c:v>
                  </c:pt>
                  <c:pt idx="7">
                    <c:v>INTEL CORP</c:v>
                  </c:pt>
                  <c:pt idx="8">
                    <c:v>ORACLE INTL CORP</c:v>
                  </c:pt>
                  <c:pt idx="9">
                    <c:v>TREND MICRO INC</c:v>
                  </c:pt>
                </c:lvl>
              </c:multiLvlStrCache>
            </c:multiLvl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4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4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 Count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73</c:v>
                </c:pt>
                <c:pt idx="2">
                  <c:v>300</c:v>
                </c:pt>
                <c:pt idx="3">
                  <c:v>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 Count</c:v>
                </c:pt>
              </c:strCache>
            </c:strRef>
          </c:tx>
          <c:spPr>
            <a:solidFill>
              <a:srgbClr val="4472C4"/>
            </a:solidFill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73</c:v>
                </c:pt>
                <c:pt idx="2">
                  <c:v>300</c:v>
                </c:pt>
                <c:pt idx="3">
                  <c:v>244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Filing Count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</c:v>
                </c:pt>
                <c:pt idx="1">
                  <c:v>299</c:v>
                </c:pt>
                <c:pt idx="2">
                  <c:v>110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Filing Count</c:v>
                </c:pt>
              </c:strCache>
            </c:strRef>
          </c:tx>
          <c:spPr>
            <a:solidFill>
              <a:srgbClr val="70AD47"/>
            </a:solidFill>
            <a:ln w="2540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</c:v>
                </c:pt>
                <c:pt idx="1">
                  <c:v>299</c:v>
                </c:pt>
                <c:pt idx="2">
                  <c:v>110</c:v>
                </c:pt>
                <c:pt idx="3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Count</c:v>
                </c:pt>
              </c:strCache>
            </c:strRef>
          </c:tx>
          <c:spPr>
            <a:solidFill>
              <a:srgbClr val="A64D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16</c:v>
                </c:pt>
                <c:pt idx="6">
                  <c:v>22</c:v>
                </c:pt>
                <c:pt idx="7">
                  <c:v>46</c:v>
                </c:pt>
                <c:pt idx="8">
                  <c:v>230</c:v>
                </c:pt>
                <c:pt idx="9">
                  <c:v>290</c:v>
                </c:pt>
                <c:pt idx="10">
                  <c:v>13</c:v>
                </c:pt>
                <c:pt idx="1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47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21</c:v>
                </c:pt>
                <c:pt idx="2">
                  <c:v>70</c:v>
                </c:pt>
                <c:pt idx="3">
                  <c:v>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13</c:v>
                </c:pt>
                <c:pt idx="2">
                  <c:v>38</c:v>
                </c:pt>
                <c:pt idx="3">
                  <c:v>36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16</c:v>
                </c:pt>
                <c:pt idx="2">
                  <c:v>87</c:v>
                </c:pt>
                <c:pt idx="3">
                  <c:v>58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</c:v>
                </c:pt>
                <c:pt idx="1">
                  <c:v>8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15</c:v>
                </c:pt>
                <c:pt idx="3">
                  <c:v>21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47</c:v>
                </c:pt>
                <c:pt idx="3">
                  <c:v>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ln w="25400" cap="flat">
              <a:solidFill>
                <a:srgbClr val="2CA0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A02C"/>
              </a:solidFill>
              <a:ln w="9525" cap="flat">
                <a:solidFill>
                  <a:srgbClr val="2CA0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21</c:v>
                </c:pt>
                <c:pt idx="2">
                  <c:v>70</c:v>
                </c:pt>
                <c:pt idx="3">
                  <c:v>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ln w="25400" cap="flat">
              <a:solidFill>
                <a:srgbClr val="FF7F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7F0E"/>
              </a:solidFill>
              <a:ln w="9525" cap="flat">
                <a:solidFill>
                  <a:srgbClr val="FF7F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13</c:v>
                </c:pt>
                <c:pt idx="2">
                  <c:v>38</c:v>
                </c:pt>
                <c:pt idx="3">
                  <c:v>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ln w="25400" cap="flat">
              <a:solidFill>
                <a:srgbClr val="9467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467BD"/>
              </a:solidFill>
              <a:ln w="9525" cap="flat">
                <a:solidFill>
                  <a:srgbClr val="9467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16</c:v>
                </c:pt>
                <c:pt idx="2">
                  <c:v>87</c:v>
                </c:pt>
                <c:pt idx="3">
                  <c:v>58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ln w="25400" cap="flat">
              <a:solidFill>
                <a:srgbClr val="D627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62728"/>
              </a:solidFill>
              <a:ln w="9525" cap="flat">
                <a:solidFill>
                  <a:srgbClr val="D627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ln w="25400" cap="flat">
              <a:solidFill>
                <a:srgbClr val="8C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C564B"/>
              </a:solidFill>
              <a:ln w="9525" cap="flat">
                <a:solidFill>
                  <a:srgbClr val="8C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</c:v>
                </c:pt>
                <c:pt idx="1">
                  <c:v>8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ln w="25400" cap="flat">
              <a:solidFill>
                <a:srgbClr val="17BE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7BECF"/>
              </a:solidFill>
              <a:ln w="9525" cap="flat">
                <a:solidFill>
                  <a:srgbClr val="17BE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15</c:v>
                </c:pt>
                <c:pt idx="3">
                  <c:v>21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ln w="25400" cap="flat">
              <a:solidFill>
                <a:srgbClr val="E377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377C2"/>
              </a:solidFill>
              <a:ln w="9525" cap="flat">
                <a:solidFill>
                  <a:srgbClr val="E377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61</c:v>
                </c:pt>
                <c:pt idx="2">
                  <c:v>25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70</c:v>
                </c:pt>
                <c:pt idx="2">
                  <c:v>28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</c:v>
                </c:pt>
                <c:pt idx="1">
                  <c:v>41</c:v>
                </c:pt>
                <c:pt idx="2">
                  <c:v>19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78</c:v>
                </c:pt>
                <c:pt idx="1">
                  <c:v>58</c:v>
                </c:pt>
                <c:pt idx="2">
                  <c:v>24</c:v>
                </c:pt>
                <c:pt idx="3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25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7</c:v>
                </c:pt>
                <c:pt idx="1">
                  <c:v>24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12</c:v>
                </c:pt>
                <c:pt idx="1">
                  <c:v>13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61</c:v>
                </c:pt>
                <c:pt idx="2">
                  <c:v>25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70</c:v>
                </c:pt>
                <c:pt idx="2">
                  <c:v>28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</c:v>
                </c:pt>
                <c:pt idx="1">
                  <c:v>41</c:v>
                </c:pt>
                <c:pt idx="2">
                  <c:v>19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78</c:v>
                </c:pt>
                <c:pt idx="1">
                  <c:v>58</c:v>
                </c:pt>
                <c:pt idx="2">
                  <c:v>24</c:v>
                </c:pt>
                <c:pt idx="3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25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7</c:v>
                </c:pt>
                <c:pt idx="1">
                  <c:v>24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12</c:v>
                </c:pt>
                <c:pt idx="1">
                  <c:v>13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61</c:v>
                </c:pt>
                <c:pt idx="2">
                  <c:v>25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ln w="25400" cap="flat">
              <a:solidFill>
                <a:srgbClr val="2CA0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A02C"/>
              </a:solidFill>
              <a:ln w="9525" cap="flat">
                <a:solidFill>
                  <a:srgbClr val="2CA0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70</c:v>
                </c:pt>
                <c:pt idx="2">
                  <c:v>28</c:v>
                </c:pt>
                <c:pt idx="3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ln w="25400" cap="flat">
              <a:solidFill>
                <a:srgbClr val="FF7F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7F0E"/>
              </a:solidFill>
              <a:ln w="9525" cap="flat">
                <a:solidFill>
                  <a:srgbClr val="FF7F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</c:v>
                </c:pt>
                <c:pt idx="1">
                  <c:v>41</c:v>
                </c:pt>
                <c:pt idx="2">
                  <c:v>19</c:v>
                </c:pt>
                <c:pt idx="3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ln w="25400" cap="flat">
              <a:solidFill>
                <a:srgbClr val="9467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467BD"/>
              </a:solidFill>
              <a:ln w="9525" cap="flat">
                <a:solidFill>
                  <a:srgbClr val="9467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78</c:v>
                </c:pt>
                <c:pt idx="1">
                  <c:v>58</c:v>
                </c:pt>
                <c:pt idx="2">
                  <c:v>24</c:v>
                </c:pt>
                <c:pt idx="3">
                  <c:v>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ln w="25400" cap="flat">
              <a:solidFill>
                <a:srgbClr val="D627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62728"/>
              </a:solidFill>
              <a:ln w="9525" cap="flat">
                <a:solidFill>
                  <a:srgbClr val="D627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ln w="25400" cap="flat">
              <a:solidFill>
                <a:srgbClr val="8C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C564B"/>
              </a:solidFill>
              <a:ln w="9525" cap="flat">
                <a:solidFill>
                  <a:srgbClr val="8C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25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ln w="25400" cap="flat">
              <a:solidFill>
                <a:srgbClr val="17BE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7BECF"/>
              </a:solidFill>
              <a:ln w="9525" cap="flat">
                <a:solidFill>
                  <a:srgbClr val="17BE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7</c:v>
                </c:pt>
                <c:pt idx="1">
                  <c:v>24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ln w="25400" cap="flat">
              <a:solidFill>
                <a:srgbClr val="E377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377C2"/>
              </a:solidFill>
              <a:ln w="9525" cap="flat">
                <a:solidFill>
                  <a:srgbClr val="E377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12</c:v>
                </c:pt>
                <c:pt idx="1">
                  <c:v>13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61</c:v>
                </c:pt>
                <c:pt idx="2">
                  <c:v>25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70</c:v>
                </c:pt>
                <c:pt idx="2">
                  <c:v>28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</c:v>
                </c:pt>
                <c:pt idx="1">
                  <c:v>41</c:v>
                </c:pt>
                <c:pt idx="2">
                  <c:v>19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78</c:v>
                </c:pt>
                <c:pt idx="1">
                  <c:v>58</c:v>
                </c:pt>
                <c:pt idx="2">
                  <c:v>24</c:v>
                </c:pt>
                <c:pt idx="3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19</c:v>
                </c:pt>
                <c:pt idx="1">
                  <c:v>25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7</c:v>
                </c:pt>
                <c:pt idx="1">
                  <c:v>24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12</c:v>
                </c:pt>
                <c:pt idx="1">
                  <c:v>13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and Response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  <c:pt idx="8">
                  <c:v>27</c:v>
                </c:pt>
                <c:pt idx="9">
                  <c:v>63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and Cloud Security</c:v>
                </c:pt>
              </c:strCache>
            </c:strRef>
          </c:tx>
          <c:spPr>
            <a:solidFill>
              <a:srgbClr val="2CA02C"/>
            </a:solidFill>
            <a:ln w="25400" cap="flat">
              <a:solidFill>
                <a:srgbClr val="2CA0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A02C"/>
              </a:solidFill>
              <a:ln w="9525" cap="flat">
                <a:solidFill>
                  <a:srgbClr val="2CA0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55</c:v>
                </c:pt>
                <c:pt idx="9">
                  <c:v>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Vulnerability and Risk Management</c:v>
                </c:pt>
              </c:strCache>
            </c:strRef>
          </c:tx>
          <c:spPr>
            <a:solidFill>
              <a:srgbClr val="FF7F0E"/>
            </a:solidFill>
            <a:ln w="25400" cap="flat">
              <a:solidFill>
                <a:srgbClr val="FF7F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7F0E"/>
              </a:solidFill>
              <a:ln w="9525" cap="flat">
                <a:solidFill>
                  <a:srgbClr val="FF7F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7</c:v>
                </c:pt>
                <c:pt idx="8">
                  <c:v>28</c:v>
                </c:pt>
                <c:pt idx="9">
                  <c:v>43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and Access Management</c:v>
                </c:pt>
              </c:strCache>
            </c:strRef>
          </c:tx>
          <c:spPr>
            <a:solidFill>
              <a:srgbClr val="9467BD"/>
            </a:solidFill>
            <a:ln w="25400" cap="flat">
              <a:solidFill>
                <a:srgbClr val="9467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467BD"/>
              </a:solidFill>
              <a:ln w="9525" cap="flat">
                <a:solidFill>
                  <a:srgbClr val="9467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3</c:v>
                </c:pt>
                <c:pt idx="6">
                  <c:v>7</c:v>
                </c:pt>
                <c:pt idx="7">
                  <c:v>13</c:v>
                </c:pt>
                <c:pt idx="8">
                  <c:v>77</c:v>
                </c:pt>
                <c:pt idx="9">
                  <c:v>53</c:v>
                </c:pt>
                <c:pt idx="10">
                  <c:v>7</c:v>
                </c:pt>
                <c:pt idx="11">
                  <c:v>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Model Security</c:v>
                </c:pt>
              </c:strCache>
            </c:strRef>
          </c:tx>
          <c:spPr>
            <a:solidFill>
              <a:srgbClr val="D62728"/>
            </a:solidFill>
            <a:ln w="25400" cap="flat">
              <a:solidFill>
                <a:srgbClr val="D627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62728"/>
              </a:solidFill>
              <a:ln w="9525" cap="flat">
                <a:solidFill>
                  <a:srgbClr val="D627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6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and Phishing Defense</c:v>
                </c:pt>
              </c:strCache>
            </c:strRef>
          </c:tx>
          <c:spPr>
            <a:solidFill>
              <a:srgbClr val="8C564B"/>
            </a:solidFill>
            <a:ln w="25400" cap="flat">
              <a:solidFill>
                <a:srgbClr val="8C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C564B"/>
              </a:solidFill>
              <a:ln w="9525" cap="flat">
                <a:solidFill>
                  <a:srgbClr val="8C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19</c:v>
                </c:pt>
                <c:pt idx="9">
                  <c:v>16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Security Automation and Testing</c:v>
                </c:pt>
              </c:strCache>
            </c:strRef>
          </c:tx>
          <c:spPr>
            <a:solidFill>
              <a:srgbClr val="17BECF"/>
            </a:solidFill>
            <a:ln w="25400" cap="flat">
              <a:solidFill>
                <a:srgbClr val="17BE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7BECF"/>
              </a:solidFill>
              <a:ln w="9525" cap="flat">
                <a:solidFill>
                  <a:srgbClr val="17BE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11</c:v>
                </c:pt>
                <c:pt idx="9">
                  <c:v>25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Data and Privacy Protection</c:v>
                </c:pt>
              </c:strCache>
            </c:strRef>
          </c:tx>
          <c:spPr>
            <a:solidFill>
              <a:srgbClr val="E377C2"/>
            </a:solidFill>
            <a:ln w="25400" cap="flat">
              <a:solidFill>
                <a:srgbClr val="E377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377C2"/>
              </a:solidFill>
              <a:ln w="9525" cap="flat">
                <a:solidFill>
                  <a:srgbClr val="E377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Sheet1!$I$2:$I$13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11</c:v>
                </c:pt>
                <c:pt idx="9">
                  <c:v>9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ZSCALER INC</c:v>
                </c:pt>
              </c:strCache>
            </c:strRef>
          </c:tx>
          <c:spPr>
            <a:solidFill>
              <a:srgbClr val="4472C4"/>
            </a:solidFill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12</c:v>
                </c:pt>
                <c:pt idx="2">
                  <c:v>47</c:v>
                </c:pt>
                <c:pt idx="3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MICROSOFT TECH LICENSING LLC</c:v>
                </c:pt>
              </c:strCache>
            </c:strRef>
          </c:tx>
          <c:spPr>
            <a:solidFill>
              <a:srgbClr val="ED7D31"/>
            </a:solidFill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35</c:v>
                </c:pt>
                <c:pt idx="3">
                  <c:v>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CISCO TECH INC</c:v>
                </c:pt>
              </c:strCache>
            </c:strRef>
          </c:tx>
          <c:spPr>
            <a:solidFill>
              <a:srgbClr val="70AD47"/>
            </a:solidFill>
            <a:ln w="2540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17</c:v>
                </c:pt>
                <c:pt idx="2">
                  <c:v>50</c:v>
                </c:pt>
                <c:pt idx="3">
                  <c:v>23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PALO ALTO NETWORKS INC</c:v>
                </c:pt>
              </c:strCache>
            </c:strRef>
          </c:tx>
          <c:spPr>
            <a:solidFill>
              <a:srgbClr val="A5A5A5"/>
            </a:solidFill>
            <a:ln w="25400" cap="flat">
              <a:solidFill>
                <a:srgbClr val="A5A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5A5A5"/>
              </a:solidFill>
              <a:ln w="9525" cap="flat">
                <a:solidFill>
                  <a:srgbClr val="A5A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34</c:v>
                </c:pt>
                <c:pt idx="3">
                  <c:v>27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CROWDSTRIKE INC</c:v>
                </c:pt>
              </c:strCache>
            </c:strRef>
          </c:tx>
          <c:spPr>
            <a:solidFill>
              <a:srgbClr val="FFC000"/>
            </a:solidFill>
            <a:ln w="25400" cap="flat">
              <a:solidFill>
                <a:srgbClr val="FFC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37</c:v>
                </c:pt>
                <c:pt idx="3">
                  <c:v>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ZSCALER INC</c:v>
                </c:pt>
              </c:strCache>
            </c:strRef>
          </c:tx>
          <c:spPr>
            <a:solidFill>
              <a:srgbClr val="4472C4"/>
            </a:solidFill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48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MICROSOFT TECH LICENSING LLC</c:v>
                </c:pt>
              </c:strCache>
            </c:strRef>
          </c:tx>
          <c:spPr>
            <a:solidFill>
              <a:srgbClr val="ED7D31"/>
            </a:solidFill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48</c:v>
                </c:pt>
                <c:pt idx="2">
                  <c:v>17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CISCO TECH INC</c:v>
                </c:pt>
              </c:strCache>
            </c:strRef>
          </c:tx>
          <c:spPr>
            <a:solidFill>
              <a:srgbClr val="70AD47"/>
            </a:solidFill>
            <a:ln w="2540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</c:v>
                </c:pt>
                <c:pt idx="1">
                  <c:v>37</c:v>
                </c:pt>
                <c:pt idx="2">
                  <c:v>16</c:v>
                </c:pt>
                <c:pt idx="3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PALO ALTO NETWORKS INC</c:v>
                </c:pt>
              </c:strCache>
            </c:strRef>
          </c:tx>
          <c:spPr>
            <a:solidFill>
              <a:srgbClr val="A5A5A5"/>
            </a:solidFill>
            <a:ln w="25400" cap="flat">
              <a:solidFill>
                <a:srgbClr val="A5A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5A5A5"/>
              </a:solidFill>
              <a:ln w="9525" cap="flat">
                <a:solidFill>
                  <a:srgbClr val="A5A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CROWDSTRIKE INC</c:v>
                </c:pt>
              </c:strCache>
            </c:strRef>
          </c:tx>
          <c:spPr>
            <a:solidFill>
              <a:srgbClr val="FFC000"/>
            </a:solidFill>
            <a:ln w="25400" cap="flat">
              <a:solidFill>
                <a:srgbClr val="FFC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14</c:v>
                </c:pt>
                <c:pt idx="1">
                  <c:v>41</c:v>
                </c:pt>
                <c:pt idx="2">
                  <c:v>9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rgbClr val="9E48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US</c:v>
                  </c:pt>
                  <c:pt idx="1">
                    <c:v>WO</c:v>
                  </c:pt>
                  <c:pt idx="2">
                    <c:v>EP</c:v>
                  </c:pt>
                  <c:pt idx="3">
                    <c:v>IN</c:v>
                  </c:pt>
                  <c:pt idx="4">
                    <c:v>CN</c:v>
                  </c:pt>
                  <c:pt idx="5">
                    <c:v>JP</c:v>
                  </c:pt>
                  <c:pt idx="6">
                    <c:v>KR</c:v>
                  </c:pt>
                  <c:pt idx="7">
                    <c:v>DE</c:v>
                  </c:pt>
                  <c:pt idx="8">
                    <c:v>CA</c:v>
                  </c:pt>
                  <c:pt idx="9">
                    <c:v>IL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496</c:v>
                </c:pt>
                <c:pt idx="1">
                  <c:v>54</c:v>
                </c:pt>
                <c:pt idx="2">
                  <c:v>36</c:v>
                </c:pt>
                <c:pt idx="3">
                  <c:v>18</c:v>
                </c:pt>
                <c:pt idx="4">
                  <c:v>16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H04L</c:v>
                  </c:pt>
                  <c:pt idx="1">
                    <c:v>G06F</c:v>
                  </c:pt>
                  <c:pt idx="2">
                    <c:v>G06N</c:v>
                  </c:pt>
                  <c:pt idx="3">
                    <c:v>Unknown</c:v>
                  </c:pt>
                  <c:pt idx="4">
                    <c:v>G06Q</c:v>
                  </c:pt>
                  <c:pt idx="5">
                    <c:v>H04W</c:v>
                  </c:pt>
                  <c:pt idx="6">
                    <c:v>H04B</c:v>
                  </c:pt>
                  <c:pt idx="7">
                    <c:v>G10L</c:v>
                  </c:pt>
                  <c:pt idx="8">
                    <c:v>G01C</c:v>
                  </c:pt>
                  <c:pt idx="9">
                    <c:v>A63F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297</c:v>
                </c:pt>
                <c:pt idx="1">
                  <c:v>262</c:v>
                </c:pt>
                <c:pt idx="2">
                  <c:v>27</c:v>
                </c:pt>
                <c:pt idx="3">
                  <c:v>22</c:v>
                </c:pt>
                <c:pt idx="4">
                  <c:v>11</c:v>
                </c:pt>
                <c:pt idx="5">
                  <c:v>7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Network security</c:v>
                  </c:pt>
                  <c:pt idx="1">
                    <c:v>Identity and access control</c:v>
                  </c:pt>
                  <c:pt idx="2">
                    <c:v>Cloud workload security</c:v>
                  </c:pt>
                  <c:pt idx="3">
                    <c:v>Threat detection</c:v>
                  </c:pt>
                  <c:pt idx="4">
                    <c:v>Vulnerability exposure</c:v>
                  </c:pt>
                  <c:pt idx="5">
                    <c:v>Security automation</c:v>
                  </c:pt>
                  <c:pt idx="6">
                    <c:v>Malware and phishing</c:v>
                  </c:pt>
                  <c:pt idx="7">
                    <c:v>Data privacy and DLP</c:v>
                  </c:pt>
                  <c:pt idx="8">
                    <c:v>AI model attacks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288</c:v>
                </c:pt>
                <c:pt idx="1">
                  <c:v>189</c:v>
                </c:pt>
                <c:pt idx="2">
                  <c:v>162</c:v>
                </c:pt>
                <c:pt idx="3">
                  <c:v>145</c:v>
                </c:pt>
                <c:pt idx="4">
                  <c:v>71</c:v>
                </c:pt>
                <c:pt idx="5">
                  <c:v>64</c:v>
                </c:pt>
                <c:pt idx="6">
                  <c:v>48</c:v>
                </c:pt>
                <c:pt idx="7">
                  <c:v>31</c:v>
                </c:pt>
                <c:pt idx="8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Cited Patent Count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377C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Threat Detection and Response</c:v>
                  </c:pt>
                  <c:pt idx="1">
                    <c:v>Network and Cloud Security</c:v>
                  </c:pt>
                  <c:pt idx="2">
                    <c:v>Vulnerability and Risk Management</c:v>
                  </c:pt>
                  <c:pt idx="3">
                    <c:v>Identity and Access Management</c:v>
                  </c:pt>
                  <c:pt idx="4">
                    <c:v>AI Model Security</c:v>
                  </c:pt>
                  <c:pt idx="5">
                    <c:v>Malware and Phishing Defense</c:v>
                  </c:pt>
                  <c:pt idx="6">
                    <c:v>Security Automation and Testing</c:v>
                  </c:pt>
                  <c:pt idx="7">
                    <c:v>Data and Privacy Protection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1592</c:v>
                </c:pt>
                <c:pt idx="1">
                  <c:v>1710</c:v>
                </c:pt>
                <c:pt idx="2">
                  <c:v>709</c:v>
                </c:pt>
                <c:pt idx="3">
                  <c:v>2962</c:v>
                </c:pt>
                <c:pt idx="4">
                  <c:v>56</c:v>
                </c:pt>
                <c:pt idx="5">
                  <c:v>1783</c:v>
                </c:pt>
                <c:pt idx="6">
                  <c:v>215</c:v>
                </c:pt>
                <c:pt idx="7">
                  <c:v>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Citing Patent Count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377C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Threat Detection and Response</c:v>
                  </c:pt>
                  <c:pt idx="1">
                    <c:v>Network and Cloud Security</c:v>
                  </c:pt>
                  <c:pt idx="2">
                    <c:v>Vulnerability and Risk Management</c:v>
                  </c:pt>
                  <c:pt idx="3">
                    <c:v>Identity and Access Management</c:v>
                  </c:pt>
                  <c:pt idx="4">
                    <c:v>AI Model Security</c:v>
                  </c:pt>
                  <c:pt idx="5">
                    <c:v>Malware and Phishing Defense</c:v>
                  </c:pt>
                  <c:pt idx="6">
                    <c:v>Security Automation and Testing</c:v>
                  </c:pt>
                  <c:pt idx="7">
                    <c:v>Data and Privacy Protection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</c:v>
                </c:pt>
                <c:pt idx="1">
                  <c:v>130</c:v>
                </c:pt>
                <c:pt idx="2">
                  <c:v>95</c:v>
                </c:pt>
                <c:pt idx="3">
                  <c:v>122</c:v>
                </c:pt>
                <c:pt idx="4">
                  <c:v>15</c:v>
                </c:pt>
                <c:pt idx="5">
                  <c:v>31</c:v>
                </c:pt>
                <c:pt idx="6">
                  <c:v>14</c:v>
                </c:pt>
                <c:pt idx="7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Cited Patent Count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377C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Threat Detection and Response</c:v>
                  </c:pt>
                  <c:pt idx="1">
                    <c:v>Network and Cloud Security</c:v>
                  </c:pt>
                  <c:pt idx="2">
                    <c:v>Vulnerability and Risk Management</c:v>
                  </c:pt>
                  <c:pt idx="3">
                    <c:v>Identity and Access Management</c:v>
                  </c:pt>
                  <c:pt idx="4">
                    <c:v>AI Model Security</c:v>
                  </c:pt>
                  <c:pt idx="5">
                    <c:v>Malware and Phishing Defense</c:v>
                  </c:pt>
                  <c:pt idx="6">
                    <c:v>Security Automation and Testing</c:v>
                  </c:pt>
                  <c:pt idx="7">
                    <c:v>Data and Privacy Protection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11.1</c:v>
                </c:pt>
                <c:pt idx="2">
                  <c:v>8.1</c:v>
                </c:pt>
                <c:pt idx="3">
                  <c:v>18.1</c:v>
                </c:pt>
                <c:pt idx="4">
                  <c:v>7</c:v>
                </c:pt>
                <c:pt idx="5">
                  <c:v>37.1</c:v>
                </c:pt>
                <c:pt idx="6">
                  <c:v>5.4</c:v>
                </c:pt>
                <c:pt idx="7">
                  <c:v>13.8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Cited Patent Count</c:v>
                </c:pt>
              </c:strCache>
            </c:strRef>
          </c:tx>
          <c:spPr>
            <a:solidFill>
              <a:srgbClr val="8064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FORTINET INC</c:v>
                  </c:pt>
                  <c:pt idx="1">
                    <c:v>ZSCALER INC</c:v>
                  </c:pt>
                  <c:pt idx="2">
                    <c:v>GOOGLE LLC</c:v>
                  </c:pt>
                  <c:pt idx="3">
                    <c:v>CISCO TECH INC</c:v>
                  </c:pt>
                  <c:pt idx="4">
                    <c:v>PALO ALTO NETWORKS INC</c:v>
                  </c:pt>
                  <c:pt idx="5">
                    <c:v>SENTINELONE INC</c:v>
                  </c:pt>
                  <c:pt idx="6">
                    <c:v>SENTINEL LABS ISRAEL LTD</c:v>
                  </c:pt>
                  <c:pt idx="7">
                    <c:v>MICROSOFT TECH LICENSING LLC</c:v>
                  </c:pt>
                  <c:pt idx="8">
                    <c:v>CROWDSTRIKE INC</c:v>
                  </c:pt>
                  <c:pt idx="9">
                    <c:v>MELLANOX TECH LTD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3095</c:v>
                </c:pt>
                <c:pt idx="1">
                  <c:v>1323</c:v>
                </c:pt>
                <c:pt idx="2">
                  <c:v>880</c:v>
                </c:pt>
                <c:pt idx="3">
                  <c:v>759</c:v>
                </c:pt>
                <c:pt idx="4">
                  <c:v>701</c:v>
                </c:pt>
                <c:pt idx="5">
                  <c:v>629</c:v>
                </c:pt>
                <c:pt idx="6">
                  <c:v>618</c:v>
                </c:pt>
                <c:pt idx="7">
                  <c:v>421</c:v>
                </c:pt>
                <c:pt idx="8">
                  <c:v>369</c:v>
                </c:pt>
                <c:pt idx="9">
                  <c:v>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Cited Count</c:v>
                </c:pt>
              </c:strCache>
            </c:strRef>
          </c:tx>
          <c:spPr>
            <a:solidFill>
              <a:srgbClr val="4472C4"/>
            </a:solidFill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110</c:v>
                </c:pt>
                <c:pt idx="1">
                  <c:v>98</c:v>
                </c:pt>
                <c:pt idx="2">
                  <c:v>92</c:v>
                </c:pt>
                <c:pt idx="3">
                  <c:v>67</c:v>
                </c:pt>
                <c:pt idx="4">
                  <c:v>64</c:v>
                </c:pt>
                <c:pt idx="5">
                  <c:v>49</c:v>
                </c:pt>
                <c:pt idx="6">
                  <c:v>30</c:v>
                </c:pt>
                <c:pt idx="7">
                  <c:v>16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7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4.3</c:v>
                </c:pt>
                <c:pt idx="2">
                  <c:v>8.2</c:v>
                </c:pt>
                <c:pt idx="3">
                  <c:v>10.5</c:v>
                </c:pt>
                <c:pt idx="4">
                  <c:v>5.8</c:v>
                </c:pt>
                <c:pt idx="5">
                  <c:v>63.2</c:v>
                </c:pt>
                <c:pt idx="6">
                  <c:v>29.3</c:v>
                </c:pt>
                <c:pt idx="7">
                  <c:v>1.2</c:v>
                </c:pt>
                <c:pt idx="8">
                  <c:v>4.2</c:v>
                </c:pt>
                <c:pt idx="9">
                  <c:v>11.2</c:v>
                </c:pt>
                <c:pt idx="10">
                  <c:v>15</c:v>
                </c:pt>
                <c:pt idx="11">
                  <c:v>8.7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2F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Patent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7B4"/>
              </a:solidFill>
              <a:effectLst/>
            </c:spPr>
          </c:dPt>
          <c:dPt>
            <c:idx val="1"/>
            <c:bubble3D val="0"/>
            <c:spPr>
              <a:solidFill>
                <a:srgbClr val="2CA02C"/>
              </a:solidFill>
              <a:effectLst/>
            </c:spPr>
          </c:dPt>
          <c:dPt>
            <c:idx val="2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bubble3D val="0"/>
            <c:spPr>
              <a:solidFill>
                <a:srgbClr val="9467BD"/>
              </a:solidFill>
              <a:effectLst/>
            </c:spPr>
          </c:dPt>
          <c:dPt>
            <c:idx val="4"/>
            <c:bubble3D val="0"/>
            <c:spPr>
              <a:solidFill>
                <a:srgbClr val="D62728"/>
              </a:solidFill>
              <a:effectLst/>
            </c:spPr>
          </c:dPt>
          <c:dPt>
            <c:idx val="5"/>
            <c:bubble3D val="0"/>
            <c:spPr>
              <a:solidFill>
                <a:srgbClr val="8C564B"/>
              </a:solidFill>
              <a:effectLst/>
            </c:spPr>
          </c:dPt>
          <c:dPt>
            <c:idx val="6"/>
            <c:bubble3D val="0"/>
            <c:spPr>
              <a:solidFill>
                <a:srgbClr val="17BECF"/>
              </a:solidFill>
              <a:effectLst/>
            </c:spPr>
          </c:dPt>
          <c:dPt>
            <c:idx val="7"/>
            <c:bubble3D val="0"/>
            <c:spPr>
              <a:solidFill>
                <a:srgbClr val="E377C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Threat Detection and Response</c:v>
                </c:pt>
                <c:pt idx="1">
                  <c:v>Network and Cloud Security</c:v>
                </c:pt>
                <c:pt idx="2">
                  <c:v>Vulnerability and Risk Management</c:v>
                </c:pt>
                <c:pt idx="3">
                  <c:v>Identity and Access Management</c:v>
                </c:pt>
                <c:pt idx="4">
                  <c:v>AI Model Security</c:v>
                </c:pt>
                <c:pt idx="5">
                  <c:v>Malware and Phishing Defense</c:v>
                </c:pt>
                <c:pt idx="6">
                  <c:v>Security Automation and Testing</c:v>
                </c:pt>
                <c:pt idx="7">
                  <c:v>Data and Privacy Protection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106</c:v>
                </c:pt>
                <c:pt idx="1">
                  <c:v>154</c:v>
                </c:pt>
                <c:pt idx="2">
                  <c:v>88</c:v>
                </c:pt>
                <c:pt idx="3">
                  <c:v>164</c:v>
                </c:pt>
                <c:pt idx="4">
                  <c:v>8</c:v>
                </c:pt>
                <c:pt idx="5">
                  <c:v>48</c:v>
                </c:pt>
                <c:pt idx="6">
                  <c:v>40</c:v>
                </c:pt>
                <c:pt idx="7">
                  <c:v>27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09728" cy="42976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9601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Cybersecurity Patent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86968" y="1737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PowerPoint graphs only — no graph images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6968" y="233172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Dataset: IPCyberPatentWithAgenticAIExport-20260630.xlsx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analyzed: 635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framework: same 8 standard categories as previous landscape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6968" y="42519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F4E7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407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635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48006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Patent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30168" y="42519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F4E7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4407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75888" y="48006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Assignees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73368" y="42519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F4E7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4407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19088" y="48006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Jurisdictions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16568" y="42519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F4E78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288" y="44074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2023-2026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62288" y="48006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Publication years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98932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DF5"/>
                </a:solidFill>
              </a:rPr>
              <a:t>All charts in this PPT are editable PowerPoint chart objects built from the uploaded Excel dataset.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Category Distribution — Horizontal Bar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8-category taxonomy used consistently throughout the deck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Category Share — Doughnut Chart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8-category taxonomy used consistently throughout the deck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097280" y="960120"/>
          <a:ext cx="987552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Category Share — Pie Chart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8-category taxonomy used consistently throughout the deck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005840" y="960120"/>
          <a:ext cx="1024128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Category Balance — Radar Chart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8-category taxonomy used consistently throughout the deck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960120" y="960120"/>
          <a:ext cx="1014984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Top Assignees by Patent Count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12 assignees by record count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Top Assignee Cumulative Share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share of top 20 assignees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Assignee Category Mix — Stacked Bar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assignees split by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Assignee Category Mix — Clustered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assignees split by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Publication Year Trend —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date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Publication Year Trend — 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date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Filing Year Trend —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date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Filing Year Trend — 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date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Priority Year Trend —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priority date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Publication Year by Category — Stacked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Publication-year trend per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Publication Year by Category — Multi-Line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Publication-year trend per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Filing Year by Category — Stacked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Filing-year trend per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Filing Year by Category — Clustered Column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Filing-year trend per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Filing Year by Category — Multi-Line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Filing-year trend per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Filing Year by Category — Stacked Area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Filing-year category composition over time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Priority Year by Category — Multi-Line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priority-year trend per standard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Top 5 Assignees — Publication Trend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year trend for top 5 assignees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Top 5 Assignees — Filing Trend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 year trend for top 5 assignees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Jurisdiction Distribution — Bar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code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CPC Subclass Distribution — Bar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CPC Subclass First field from source dataset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Problem Theme Distribution — Bar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Keyword-derived technical problem themes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Category Citation Load — Total Cited Patent Count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citation count aggregated by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Category Forward-Citation Signal — Total Citing Patent Count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citation count aggregated by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Category Average Cited Patent Count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backward citation count by category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 Top Assignees by Total Cited Patent Count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 citation count aggregated by assignee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94360" y="960120"/>
          <a:ext cx="110185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 Top Assignees — Volume vs Average Citation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 chart: x-axis = patent count; y-axis = average cited patent count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960120"/>
          <a:ext cx="1074420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31. Data Check — Category Counts Sum to Total Records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0624" y="566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category count = 635; total records = 635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005840" y="960120"/>
          <a:ext cx="1024128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5836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Source: IPCyberPatentWithAgenticAIExport-20260630.xlsx | Records: 635 | Charts are native PowerPoint charts with embedded data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Cybersecurity Patent Landscape - Native Charts</dc:title>
  <dc:subject>Agentic AI Cybersecurity Patent Landscape - Native PPT Charts</dc:subject>
  <dc:creator>OpenAI</dc:creator>
  <cp:lastModifiedBy>OpenAI</cp:lastModifiedBy>
  <cp:revision>1</cp:revision>
  <dcterms:created xsi:type="dcterms:W3CDTF">2026-07-02T11:20:08Z</dcterms:created>
  <dcterms:modified xsi:type="dcterms:W3CDTF">2026-07-02T11:20:08Z</dcterms:modified>
</cp:coreProperties>
</file>