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Patents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2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Agentic AI Orchestration Security</c:v>
                  </c:pt>
                  <c:pt idx="1">
                    <c:v>Endpoint &amp; Device Security</c:v>
                  </c:pt>
                  <c:pt idx="2">
                    <c:v>Cloud &amp; Container Security</c:v>
                  </c:pt>
                  <c:pt idx="3">
                    <c:v>Network &amp; Traffic Security</c:v>
                  </c:pt>
                  <c:pt idx="4">
                    <c:v>Malware &amp; Ransomware Defense</c:v>
                  </c:pt>
                  <c:pt idx="5">
                    <c:v>Vulnerability Mgmt &amp; Remediation</c:v>
                  </c:pt>
                  <c:pt idx="6">
                    <c:v>Identity &amp; Access Mgmt</c:v>
                  </c:pt>
                  <c:pt idx="7">
                    <c:v>SecOps Automation &amp; IR</c:v>
                  </c:pt>
                  <c:pt idx="8">
                    <c:v>LLM &amp; GenAI Security</c:v>
                  </c:pt>
                  <c:pt idx="9">
                    <c:v>AI Threat &amp; Anomaly Detection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</c:v>
                </c:pt>
                <c:pt idx="1">
                  <c:v>45</c:v>
                </c:pt>
                <c:pt idx="2">
                  <c:v>47</c:v>
                </c:pt>
                <c:pt idx="3">
                  <c:v>51</c:v>
                </c:pt>
                <c:pt idx="4">
                  <c:v>57</c:v>
                </c:pt>
                <c:pt idx="5">
                  <c:v>62</c:v>
                </c:pt>
                <c:pt idx="6">
                  <c:v>72</c:v>
                </c:pt>
                <c:pt idx="7">
                  <c:v>73</c:v>
                </c:pt>
                <c:pt idx="8">
                  <c:v>74</c:v>
                </c:pt>
                <c:pt idx="9">
                  <c:v>118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2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Patents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2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Microsoft</c:v>
                  </c:pt>
                  <c:pt idx="1">
                    <c:v>Cisco (incl. Splunk)</c:v>
                  </c:pt>
                  <c:pt idx="2">
                    <c:v>Palo Alto Networks</c:v>
                  </c:pt>
                  <c:pt idx="3">
                    <c:v>CrowdStrike</c:v>
                  </c:pt>
                  <c:pt idx="4">
                    <c:v>Fortinet</c:v>
                  </c:pt>
                  <c:pt idx="5">
                    <c:v>Google (Alphabet)</c:v>
                  </c:pt>
                  <c:pt idx="6">
                    <c:v>Samsung</c:v>
                  </c:pt>
                  <c:pt idx="7">
                    <c:v>CyberArk</c:v>
                  </c:pt>
                  <c:pt idx="8">
                    <c:v>Citrix</c:v>
                  </c:pt>
                  <c:pt idx="9">
                    <c:v>IBM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154</c:v>
                </c:pt>
                <c:pt idx="1">
                  <c:v>133</c:v>
                </c:pt>
                <c:pt idx="2">
                  <c:v>102</c:v>
                </c:pt>
                <c:pt idx="3">
                  <c:v>50</c:v>
                </c:pt>
                <c:pt idx="4">
                  <c:v>38</c:v>
                </c:pt>
                <c:pt idx="5">
                  <c:v>31</c:v>
                </c:pt>
                <c:pt idx="6">
                  <c:v>25</c:v>
                </c:pt>
                <c:pt idx="7">
                  <c:v>19</c:v>
                </c:pt>
                <c:pt idx="8">
                  <c:v>17</c:v>
                </c:pt>
                <c:pt idx="9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2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1200000"/>
          <a:lstStyle/>
          <a:p>
            <a:pPr>
              <a:defRPr sz="95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Threat &amp; Anomaly Detection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Microsoft</c:v>
                  </c:pt>
                  <c:pt idx="1">
                    <c:v>Cisco (incl. Splunk)</c:v>
                  </c:pt>
                  <c:pt idx="2">
                    <c:v>Palo Alto Networks</c:v>
                  </c:pt>
                  <c:pt idx="3">
                    <c:v>CrowdStrike</c:v>
                  </c:pt>
                  <c:pt idx="4">
                    <c:v>Fortinet</c:v>
                  </c:pt>
                  <c:pt idx="5">
                    <c:v>Google (Alphabet)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</c:v>
                </c:pt>
                <c:pt idx="1">
                  <c:v>32</c:v>
                </c:pt>
                <c:pt idx="2">
                  <c:v>4</c:v>
                </c:pt>
                <c:pt idx="3">
                  <c:v>7</c:v>
                </c:pt>
                <c:pt idx="4">
                  <c:v>5</c:v>
                </c:pt>
                <c:pt idx="5">
                  <c:v>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LLM &amp; GenAI Security</c:v>
                </c:pt>
              </c:strCache>
            </c:strRef>
          </c:tx>
          <c:spPr>
            <a:solidFill>
              <a:srgbClr val="2E4A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Microsoft</c:v>
                  </c:pt>
                  <c:pt idx="1">
                    <c:v>Cisco (incl. Splunk)</c:v>
                  </c:pt>
                  <c:pt idx="2">
                    <c:v>Palo Alto Networks</c:v>
                  </c:pt>
                  <c:pt idx="3">
                    <c:v>CrowdStrike</c:v>
                  </c:pt>
                  <c:pt idx="4">
                    <c:v>Fortinet</c:v>
                  </c:pt>
                  <c:pt idx="5">
                    <c:v>Google (Alphabet)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17</c:v>
                </c:pt>
                <c:pt idx="1">
                  <c:v>14</c:v>
                </c:pt>
                <c:pt idx="2">
                  <c:v>20</c:v>
                </c:pt>
                <c:pt idx="3">
                  <c:v>10</c:v>
                </c:pt>
                <c:pt idx="4">
                  <c:v>0</c:v>
                </c:pt>
                <c:pt idx="5">
                  <c:v>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SecOps Automation &amp; IR</c:v>
                </c:pt>
              </c:strCache>
            </c:strRef>
          </c:tx>
          <c:spPr>
            <a:solidFill>
              <a:srgbClr val="3E6FD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Microsoft</c:v>
                  </c:pt>
                  <c:pt idx="1">
                    <c:v>Cisco (incl. Splunk)</c:v>
                  </c:pt>
                  <c:pt idx="2">
                    <c:v>Palo Alto Networks</c:v>
                  </c:pt>
                  <c:pt idx="3">
                    <c:v>CrowdStrike</c:v>
                  </c:pt>
                  <c:pt idx="4">
                    <c:v>Fortinet</c:v>
                  </c:pt>
                  <c:pt idx="5">
                    <c:v>Google (Alphabet)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31</c:v>
                </c:pt>
                <c:pt idx="1">
                  <c:v>25</c:v>
                </c:pt>
                <c:pt idx="2">
                  <c:v>5</c:v>
                </c:pt>
                <c:pt idx="3">
                  <c:v>2</c:v>
                </c:pt>
                <c:pt idx="4">
                  <c:v>5</c:v>
                </c:pt>
                <c:pt idx="5">
                  <c:v>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Identity &amp; Access Mgmt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Microsoft</c:v>
                  </c:pt>
                  <c:pt idx="1">
                    <c:v>Cisco (incl. Splunk)</c:v>
                  </c:pt>
                  <c:pt idx="2">
                    <c:v>Palo Alto Networks</c:v>
                  </c:pt>
                  <c:pt idx="3">
                    <c:v>CrowdStrike</c:v>
                  </c:pt>
                  <c:pt idx="4">
                    <c:v>Fortinet</c:v>
                  </c:pt>
                  <c:pt idx="5">
                    <c:v>Google (Alphabet)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19</c:v>
                </c:pt>
                <c:pt idx="1">
                  <c:v>10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1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Vulnerability Mgmt &amp; Remediation</c:v>
                </c:pt>
              </c:strCache>
            </c:strRef>
          </c:tx>
          <c:spPr>
            <a:solidFill>
              <a:srgbClr val="64D8C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Microsoft</c:v>
                  </c:pt>
                  <c:pt idx="1">
                    <c:v>Cisco (incl. Splunk)</c:v>
                  </c:pt>
                  <c:pt idx="2">
                    <c:v>Palo Alto Networks</c:v>
                  </c:pt>
                  <c:pt idx="3">
                    <c:v>CrowdStrike</c:v>
                  </c:pt>
                  <c:pt idx="4">
                    <c:v>Fortinet</c:v>
                  </c:pt>
                  <c:pt idx="5">
                    <c:v>Google (Alphabet)</c:v>
                  </c:pt>
                </c:lvl>
              </c:multiLvlStrCache>
            </c:multiLvl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12</c:v>
                </c:pt>
                <c:pt idx="1">
                  <c:v>17</c:v>
                </c:pt>
                <c:pt idx="2">
                  <c:v>16</c:v>
                </c:pt>
                <c:pt idx="3">
                  <c:v>5</c:v>
                </c:pt>
                <c:pt idx="4">
                  <c:v>3</c:v>
                </c:pt>
                <c:pt idx="5">
                  <c:v>3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Malware &amp; Ransomware Defense</c:v>
                </c:pt>
              </c:strCache>
            </c:strRef>
          </c:tx>
          <c:spPr>
            <a:solidFill>
              <a:srgbClr val="8FB3E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Microsoft</c:v>
                  </c:pt>
                  <c:pt idx="1">
                    <c:v>Cisco (incl. Splunk)</c:v>
                  </c:pt>
                  <c:pt idx="2">
                    <c:v>Palo Alto Networks</c:v>
                  </c:pt>
                  <c:pt idx="3">
                    <c:v>CrowdStrike</c:v>
                  </c:pt>
                  <c:pt idx="4">
                    <c:v>Fortinet</c:v>
                  </c:pt>
                  <c:pt idx="5">
                    <c:v>Google (Alphabet)</c:v>
                  </c:pt>
                </c:lvl>
              </c:multiLvlStrCache>
            </c:multiLvlStrRef>
          </c:cat>
          <c:val>
            <c:numRef>
              <c:f>Sheet1!$G$2:$G$7</c:f>
              <c:numCache>
                <c:formatCode>General</c:formatCode>
                <c:ptCount val="6"/>
                <c:pt idx="0">
                  <c:v>8</c:v>
                </c:pt>
                <c:pt idx="1">
                  <c:v>5</c:v>
                </c:pt>
                <c:pt idx="2">
                  <c:v>20</c:v>
                </c:pt>
                <c:pt idx="3">
                  <c:v>11</c:v>
                </c:pt>
                <c:pt idx="4">
                  <c:v>5</c:v>
                </c:pt>
                <c:pt idx="5">
                  <c:v>4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Network &amp; Traffic Security</c:v>
                </c:pt>
              </c:strCache>
            </c:strRef>
          </c:tx>
          <c:spPr>
            <a:solidFill>
              <a:srgbClr val="F4A25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Microsoft</c:v>
                  </c:pt>
                  <c:pt idx="1">
                    <c:v>Cisco (incl. Splunk)</c:v>
                  </c:pt>
                  <c:pt idx="2">
                    <c:v>Palo Alto Networks</c:v>
                  </c:pt>
                  <c:pt idx="3">
                    <c:v>CrowdStrike</c:v>
                  </c:pt>
                  <c:pt idx="4">
                    <c:v>Fortinet</c:v>
                  </c:pt>
                  <c:pt idx="5">
                    <c:v>Google (Alphabet)</c:v>
                  </c:pt>
                </c:lvl>
              </c:multiLvlStrCache>
            </c:multiLvlStrRef>
          </c:cat>
          <c:val>
            <c:numRef>
              <c:f>Sheet1!$H$2:$H$7</c:f>
              <c:numCache>
                <c:formatCode>General</c:formatCode>
                <c:ptCount val="6"/>
                <c:pt idx="0">
                  <c:v>4</c:v>
                </c:pt>
                <c:pt idx="1">
                  <c:v>13</c:v>
                </c:pt>
                <c:pt idx="2">
                  <c:v>24</c:v>
                </c:pt>
                <c:pt idx="3">
                  <c:v>0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Cloud &amp; Container Security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Microsoft</c:v>
                  </c:pt>
                  <c:pt idx="1">
                    <c:v>Cisco (incl. Splunk)</c:v>
                  </c:pt>
                  <c:pt idx="2">
                    <c:v>Palo Alto Networks</c:v>
                  </c:pt>
                  <c:pt idx="3">
                    <c:v>CrowdStrike</c:v>
                  </c:pt>
                  <c:pt idx="4">
                    <c:v>Fortinet</c:v>
                  </c:pt>
                  <c:pt idx="5">
                    <c:v>Google (Alphabet)</c:v>
                  </c:pt>
                </c:lvl>
              </c:multiLvlStrCache>
            </c:multiLvlStrRef>
          </c:cat>
          <c:val>
            <c:numRef>
              <c:f>Sheet1!$I$2:$I$7</c:f>
              <c:numCache>
                <c:formatCode>General</c:formatCode>
                <c:ptCount val="6"/>
                <c:pt idx="0">
                  <c:v>14</c:v>
                </c:pt>
                <c:pt idx="1">
                  <c:v>14</c:v>
                </c:pt>
                <c:pt idx="2">
                  <c:v>7</c:v>
                </c:pt>
                <c:pt idx="3">
                  <c:v>2</c:v>
                </c:pt>
                <c:pt idx="4">
                  <c:v>2</c:v>
                </c:pt>
                <c:pt idx="5">
                  <c:v>1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Endpoint &amp; Device Security</c:v>
                </c:pt>
              </c:strCache>
            </c:strRef>
          </c:tx>
          <c:spPr>
            <a:solidFill>
              <a:srgbClr val="9B5D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Microsoft</c:v>
                  </c:pt>
                  <c:pt idx="1">
                    <c:v>Cisco (incl. Splunk)</c:v>
                  </c:pt>
                  <c:pt idx="2">
                    <c:v>Palo Alto Networks</c:v>
                  </c:pt>
                  <c:pt idx="3">
                    <c:v>CrowdStrike</c:v>
                  </c:pt>
                  <c:pt idx="4">
                    <c:v>Fortinet</c:v>
                  </c:pt>
                  <c:pt idx="5">
                    <c:v>Google (Alphabet)</c:v>
                  </c:pt>
                </c:lvl>
              </c:multiLvlStrCache>
            </c:multiLvlStrRef>
          </c:cat>
          <c:val>
            <c:numRef>
              <c:f>Sheet1!$J$2:$J$7</c:f>
              <c:numCache>
                <c:formatCode>General</c:formatCode>
                <c:ptCount val="6"/>
                <c:pt idx="0">
                  <c:v>5</c:v>
                </c:pt>
                <c:pt idx="1">
                  <c:v>3</c:v>
                </c:pt>
                <c:pt idx="2">
                  <c:v>3</c:v>
                </c:pt>
                <c:pt idx="3">
                  <c:v>8</c:v>
                </c:pt>
                <c:pt idx="4">
                  <c:v>9</c:v>
                </c:pt>
                <c:pt idx="5">
                  <c:v>1</c:v>
                </c:pt>
              </c:numCache>
            </c:numRef>
          </c:val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Agentic AI Orchestration Security</c:v>
                </c:pt>
              </c:strCache>
            </c:strRef>
          </c:tx>
          <c:spPr>
            <a:solidFill>
              <a:srgbClr val="6C757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Microsoft</c:v>
                  </c:pt>
                  <c:pt idx="1">
                    <c:v>Cisco (incl. Splunk)</c:v>
                  </c:pt>
                  <c:pt idx="2">
                    <c:v>Palo Alto Networks</c:v>
                  </c:pt>
                  <c:pt idx="3">
                    <c:v>CrowdStrike</c:v>
                  </c:pt>
                  <c:pt idx="4">
                    <c:v>Fortinet</c:v>
                  </c:pt>
                  <c:pt idx="5">
                    <c:v>Google (Alphabet)</c:v>
                  </c:pt>
                </c:lvl>
              </c:multiLvlStrCache>
            </c:multiLvlStrRef>
          </c:cat>
          <c:val>
            <c:numRef>
              <c:f>Sheet1!$K$2:$K$7</c:f>
              <c:numCache>
                <c:formatCode>General</c:formatCode>
                <c:ptCount val="6"/>
                <c:pt idx="0">
                  <c:v>3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A22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5A647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Relevant patents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2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87</c:v>
                </c:pt>
                <c:pt idx="2">
                  <c:v>222</c:v>
                </c:pt>
                <c:pt idx="3">
                  <c:v>237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2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2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Threat &amp; Anomaly Detection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</c:v>
                </c:pt>
                <c:pt idx="1">
                  <c:v>21</c:v>
                </c:pt>
                <c:pt idx="2">
                  <c:v>40</c:v>
                </c:pt>
                <c:pt idx="3">
                  <c:v>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LLM &amp; GenAI Security</c:v>
                </c:pt>
              </c:strCache>
            </c:strRef>
          </c:tx>
          <c:spPr>
            <a:solidFill>
              <a:srgbClr val="2E4A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34</c:v>
                </c:pt>
                <c:pt idx="3">
                  <c:v>39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SecOps Automation &amp; IR</c:v>
                </c:pt>
              </c:strCache>
            </c:strRef>
          </c:tx>
          <c:spPr>
            <a:solidFill>
              <a:srgbClr val="3E6FD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</c:v>
                </c:pt>
                <c:pt idx="1">
                  <c:v>13</c:v>
                </c:pt>
                <c:pt idx="2">
                  <c:v>28</c:v>
                </c:pt>
                <c:pt idx="3">
                  <c:v>25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Identity &amp; Access Mgmt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14</c:v>
                </c:pt>
                <c:pt idx="1">
                  <c:v>9</c:v>
                </c:pt>
                <c:pt idx="2">
                  <c:v>24</c:v>
                </c:pt>
                <c:pt idx="3">
                  <c:v>25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Vulnerability Mgmt &amp; Remediation</c:v>
                </c:pt>
              </c:strCache>
            </c:strRef>
          </c:tx>
          <c:spPr>
            <a:solidFill>
              <a:srgbClr val="64D8C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9</c:v>
                </c:pt>
                <c:pt idx="1">
                  <c:v>8</c:v>
                </c:pt>
                <c:pt idx="2">
                  <c:v>18</c:v>
                </c:pt>
                <c:pt idx="3">
                  <c:v>27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Malware &amp; Ransomware Defense</c:v>
                </c:pt>
              </c:strCache>
            </c:strRef>
          </c:tx>
          <c:spPr>
            <a:solidFill>
              <a:srgbClr val="8FB3E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2</c:v>
                </c:pt>
                <c:pt idx="1">
                  <c:v>10</c:v>
                </c:pt>
                <c:pt idx="2">
                  <c:v>22</c:v>
                </c:pt>
                <c:pt idx="3">
                  <c:v>23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Network &amp; Traffic Security</c:v>
                </c:pt>
              </c:strCache>
            </c:strRef>
          </c:tx>
          <c:spPr>
            <a:solidFill>
              <a:srgbClr val="F4A25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Sheet1!$H$2:$H$5</c:f>
              <c:numCache>
                <c:formatCode>General</c:formatCode>
                <c:ptCount val="4"/>
                <c:pt idx="0">
                  <c:v>3</c:v>
                </c:pt>
                <c:pt idx="1">
                  <c:v>7</c:v>
                </c:pt>
                <c:pt idx="2">
                  <c:v>15</c:v>
                </c:pt>
                <c:pt idx="3">
                  <c:v>26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Cloud &amp; Container Security</c:v>
                </c:pt>
              </c:strCache>
            </c:strRef>
          </c:tx>
          <c:spPr>
            <a:solidFill>
              <a:srgbClr val="E76F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Sheet1!$I$2:$I$5</c:f>
              <c:numCache>
                <c:formatCode>General</c:formatCode>
                <c:ptCount val="4"/>
                <c:pt idx="0">
                  <c:v>4</c:v>
                </c:pt>
                <c:pt idx="1">
                  <c:v>8</c:v>
                </c:pt>
                <c:pt idx="2">
                  <c:v>18</c:v>
                </c:pt>
                <c:pt idx="3">
                  <c:v>17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Endpoint &amp; Device Security</c:v>
                </c:pt>
              </c:strCache>
            </c:strRef>
          </c:tx>
          <c:spPr>
            <a:solidFill>
              <a:srgbClr val="9B5D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Sheet1!$J$2:$J$5</c:f>
              <c:numCache>
                <c:formatCode>General</c:formatCode>
                <c:ptCount val="4"/>
                <c:pt idx="0">
                  <c:v>5</c:v>
                </c:pt>
                <c:pt idx="1">
                  <c:v>10</c:v>
                </c:pt>
                <c:pt idx="2">
                  <c:v>19</c:v>
                </c:pt>
                <c:pt idx="3">
                  <c:v>11</c:v>
                </c:pt>
              </c:numCache>
            </c:numRef>
          </c:val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Agentic AI Orchestration Security</c:v>
                </c:pt>
              </c:strCache>
            </c:strRef>
          </c:tx>
          <c:spPr>
            <a:solidFill>
              <a:srgbClr val="6C757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Sheet1!$K$2:$K$5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4</c:v>
                </c:pt>
                <c:pt idx="3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2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A647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Microsoft</c:v>
                </c:pt>
              </c:strCache>
            </c:strRef>
          </c:tx>
          <c:spPr>
            <a:solidFill>
              <a:srgbClr val="1E2761"/>
            </a:solidFill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</c:v>
                </c:pt>
                <c:pt idx="1">
                  <c:v>22</c:v>
                </c:pt>
                <c:pt idx="2">
                  <c:v>53</c:v>
                </c:pt>
                <c:pt idx="3">
                  <c:v>66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Cisco (incl. Splunk)</c:v>
                </c:pt>
              </c:strCache>
            </c:strRef>
          </c:tx>
          <c:spPr>
            <a:solidFill>
              <a:srgbClr val="2EC4B6"/>
            </a:solidFill>
            <a:ln w="31750" cap="flat">
              <a:solidFill>
                <a:srgbClr val="2EC4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EC4B6"/>
              </a:solidFill>
              <a:ln w="9525" cap="flat">
                <a:solidFill>
                  <a:srgbClr val="2EC4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</c:v>
                </c:pt>
                <c:pt idx="1">
                  <c:v>23</c:v>
                </c:pt>
                <c:pt idx="2">
                  <c:v>48</c:v>
                </c:pt>
                <c:pt idx="3">
                  <c:v>46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Palo Alto Networks</c:v>
                </c:pt>
              </c:strCache>
            </c:strRef>
          </c:tx>
          <c:spPr>
            <a:solidFill>
              <a:srgbClr val="3E6FD0"/>
            </a:solidFill>
            <a:ln w="31750" cap="flat">
              <a:solidFill>
                <a:srgbClr val="3E6FD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3E6FD0"/>
              </a:solidFill>
              <a:ln w="9525" cap="flat">
                <a:solidFill>
                  <a:srgbClr val="3E6FD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</c:v>
                </c:pt>
                <c:pt idx="1">
                  <c:v>3</c:v>
                </c:pt>
                <c:pt idx="2">
                  <c:v>38</c:v>
                </c:pt>
                <c:pt idx="3">
                  <c:v>58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CrowdStrike</c:v>
                </c:pt>
              </c:strCache>
            </c:strRef>
          </c:tx>
          <c:spPr>
            <a:solidFill>
              <a:srgbClr val="E76F51"/>
            </a:solidFill>
            <a:ln w="31750" cap="flat">
              <a:solidFill>
                <a:srgbClr val="E76F5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76F51"/>
              </a:solidFill>
              <a:ln w="9525" cap="flat">
                <a:solidFill>
                  <a:srgbClr val="E76F5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</c:v>
                </c:pt>
                <c:pt idx="1">
                  <c:v>5</c:v>
                </c:pt>
                <c:pt idx="2">
                  <c:v>23</c:v>
                </c:pt>
                <c:pt idx="3">
                  <c:v>21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Fortinet</c:v>
                </c:pt>
              </c:strCache>
            </c:strRef>
          </c:tx>
          <c:spPr>
            <a:solidFill>
              <a:srgbClr val="F4A259"/>
            </a:solidFill>
            <a:ln w="31750" cap="flat">
              <a:solidFill>
                <a:srgbClr val="F4A25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4A259"/>
              </a:solidFill>
              <a:ln w="9525" cap="flat">
                <a:solidFill>
                  <a:srgbClr val="F4A25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6</c:v>
                </c:pt>
                <c:pt idx="1">
                  <c:v>7</c:v>
                </c:pt>
                <c:pt idx="2">
                  <c:v>17</c:v>
                </c:pt>
                <c:pt idx="3">
                  <c:v>8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Google (Alphabet)</c:v>
                </c:pt>
              </c:strCache>
            </c:strRef>
          </c:tx>
          <c:spPr>
            <a:solidFill>
              <a:srgbClr val="9B5DE5"/>
            </a:solidFill>
            <a:ln w="31750" cap="flat">
              <a:solidFill>
                <a:srgbClr val="9B5DE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9B5DE5"/>
              </a:solidFill>
              <a:ln w="9525" cap="flat">
                <a:solidFill>
                  <a:srgbClr val="9B5DE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</c:lvl>
              </c:multiLvlStrCache>
            </c:multiLvl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3</c:v>
                </c:pt>
                <c:pt idx="1">
                  <c:v>8</c:v>
                </c:pt>
                <c:pt idx="2">
                  <c:v>8</c:v>
                </c:pt>
                <c:pt idx="3">
                  <c:v>12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2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47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280160"/>
            <a:ext cx="4754880" cy="4754880"/>
          </a:xfrm>
          <a:prstGeom prst="ellipse">
            <a:avLst/>
          </a:prstGeom>
          <a:solidFill>
            <a:srgbClr val="2A3878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365760"/>
            <a:ext cx="2834640" cy="2834640"/>
          </a:xfrm>
          <a:prstGeom prst="ellipse">
            <a:avLst/>
          </a:prstGeom>
          <a:solidFill>
            <a:srgbClr val="32439B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5120640"/>
            <a:ext cx="4023360" cy="4023360"/>
          </a:xfrm>
          <a:prstGeom prst="ellipse">
            <a:avLst/>
          </a:prstGeom>
          <a:solidFill>
            <a:srgbClr val="2A387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LANDSCAPE STUDY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&amp; Cybersecurity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intelligence across 606 relevant patent publications, 2023 – H1 2026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160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606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31520" y="4937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PATENTS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29000" y="4160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429000" y="4937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CATEGORIES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126480" y="4160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126480" y="4937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ASSIGNEES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823960" y="4160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823960" y="4937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YEARS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61264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IPAgenticAIAndCyberSecurityPatents dataset (1,034 records) · Prepared July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1,034 raw records to a curated landscape of 606 patents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Cybersecurity Patent Landscape  |  July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783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1,034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RECORDS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76148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records in the source export — publications from 2023 through 30 June 2026 across 14 jurisdictions.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62272" y="155448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36592" y="1783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606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736592" y="2468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PATENTS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36592" y="276148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 with a clear cybersecurity and/or AI-security invention, classified into 10 categories.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75904" y="1554480"/>
            <a:ext cx="3611880" cy="2148840"/>
          </a:xfrm>
          <a:prstGeom prst="roundRect">
            <a:avLst>
              <a:gd name="adj" fmla="val 383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50224" y="1783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C0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428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650224" y="2468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50224" y="276148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Data-platform plumbing, generic ML training, UI/dashboard tooling, telecom and other out-of-scope records.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" y="3977640"/>
            <a:ext cx="109728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landscape was built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— each record was scored against a 10-category taxonomy using title, abstract and first-claim text; every patent is assigned to its single best-fit category.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Assignee consolidation — subsidiaries were rolled up to the ultimate parent (Splunk → Cisco; Harman/Red Bend → Samsung; DeepMind, Mandiant &amp; Chronicle → Google; regional IBM and Palo Alto entities merged).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basis — one count per publication; 2026 covers H1 only (publications through 30 June 2026).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filter — records with no cybersecurity signal were excluded; the exclusion list ships in the companion workbook for full auditability.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technology categories define the landscape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Cybersecurity Patent Landscape  |  July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26464"/>
            <a:ext cx="5440680" cy="914400"/>
          </a:xfrm>
          <a:prstGeom prst="roundRect">
            <a:avLst>
              <a:gd name="adj" fmla="val 7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4592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645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17320" y="155448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Threat &amp; Anomaly Detection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417320" y="1865376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ML/behavioural models for anomalies, insider threats, fraud &amp; IOC analysis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91072" y="1426464"/>
            <a:ext cx="5440680" cy="914400"/>
          </a:xfrm>
          <a:prstGeom prst="roundRect">
            <a:avLst>
              <a:gd name="adj" fmla="val 7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0" y="1645920"/>
            <a:ext cx="475488" cy="475488"/>
          </a:xfrm>
          <a:prstGeom prst="ellipse">
            <a:avLst/>
          </a:prstGeom>
          <a:solidFill>
            <a:srgbClr val="2E4A9E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645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59752" y="155448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&amp; GenAI Security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59752" y="1865376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Prompt-injection defence, jailbreak &amp; hallucination detection, LLM-assisted security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414016"/>
            <a:ext cx="5440680" cy="914400"/>
          </a:xfrm>
          <a:prstGeom prst="roundRect">
            <a:avLst>
              <a:gd name="adj" fmla="val 7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2633472"/>
            <a:ext cx="475488" cy="475488"/>
          </a:xfrm>
          <a:prstGeom prst="ellipse">
            <a:avLst/>
          </a:prstGeom>
          <a:solidFill>
            <a:srgbClr val="3E6FD0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2633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17320" y="2542032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SecOps Automation &amp; IR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417320" y="2852928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SIEM/XDR, alert triage, investigation, playbooks &amp; attack disruption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91072" y="2414016"/>
            <a:ext cx="5440680" cy="914400"/>
          </a:xfrm>
          <a:prstGeom prst="roundRect">
            <a:avLst>
              <a:gd name="adj" fmla="val 7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92240" y="2633472"/>
            <a:ext cx="475488" cy="475488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2633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59752" y="2542032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 Mgmt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159752" y="2852928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credentials, privileges, entitlements &amp; secrets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3401568"/>
            <a:ext cx="5440680" cy="914400"/>
          </a:xfrm>
          <a:prstGeom prst="roundRect">
            <a:avLst>
              <a:gd name="adj" fmla="val 7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9808" y="3621024"/>
            <a:ext cx="475488" cy="475488"/>
          </a:xfrm>
          <a:prstGeom prst="ellipse">
            <a:avLst/>
          </a:prstGeom>
          <a:solidFill>
            <a:srgbClr val="2AA79B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3621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417320" y="352958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Mgmt &amp; Remediation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417320" y="384048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discovery, SBOM, patching, code scanning &amp; posture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91072" y="3401568"/>
            <a:ext cx="5440680" cy="914400"/>
          </a:xfrm>
          <a:prstGeom prst="roundRect">
            <a:avLst>
              <a:gd name="adj" fmla="val 7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92240" y="3621024"/>
            <a:ext cx="475488" cy="475488"/>
          </a:xfrm>
          <a:prstGeom prst="ellipse">
            <a:avLst/>
          </a:prstGeom>
          <a:solidFill>
            <a:srgbClr val="5A7FC7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36210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159752" y="352958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&amp; Ransomware Defense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159752" y="384048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Malware/ransomware classification, phishing &amp; social-engineering defence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" y="4389120"/>
            <a:ext cx="5440680" cy="914400"/>
          </a:xfrm>
          <a:prstGeom prst="roundRect">
            <a:avLst>
              <a:gd name="adj" fmla="val 7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49808" y="4608576"/>
            <a:ext cx="475488" cy="475488"/>
          </a:xfrm>
          <a:prstGeom prst="ellipse">
            <a:avLst/>
          </a:prstGeom>
          <a:solidFill>
            <a:srgbClr val="D97E2B"/>
          </a:solidFill>
          <a:ln/>
        </p:spPr>
      </p:sp>
      <p:sp>
        <p:nvSpPr>
          <p:cNvPr id="38" name="Text 36"/>
          <p:cNvSpPr/>
          <p:nvPr/>
        </p:nvSpPr>
        <p:spPr>
          <a:xfrm>
            <a:off x="749808" y="4608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417320" y="4517136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Traffic Security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417320" y="4828032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Firewalling, lateral movement, DNS, tunnelling &amp; zero-trust networking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91072" y="4389120"/>
            <a:ext cx="5440680" cy="914400"/>
          </a:xfrm>
          <a:prstGeom prst="roundRect">
            <a:avLst>
              <a:gd name="adj" fmla="val 7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492240" y="4608576"/>
            <a:ext cx="475488" cy="475488"/>
          </a:xfrm>
          <a:prstGeom prst="ellipse">
            <a:avLst/>
          </a:prstGeom>
          <a:solidFill>
            <a:srgbClr val="D95436"/>
          </a:solidFill>
          <a:ln/>
        </p:spPr>
      </p:sp>
      <p:sp>
        <p:nvSpPr>
          <p:cNvPr id="43" name="Text 41"/>
          <p:cNvSpPr/>
          <p:nvPr/>
        </p:nvSpPr>
        <p:spPr>
          <a:xfrm>
            <a:off x="6492240" y="4608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159752" y="4517136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Container Security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7159752" y="4828032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workloads, tenants, Kubernetes/containers &amp; confidential computing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48640" y="5376672"/>
            <a:ext cx="5440680" cy="914400"/>
          </a:xfrm>
          <a:prstGeom prst="roundRect">
            <a:avLst>
              <a:gd name="adj" fmla="val 70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49808" y="5596128"/>
            <a:ext cx="475488" cy="475488"/>
          </a:xfrm>
          <a:prstGeom prst="ellipse">
            <a:avLst/>
          </a:prstGeom>
          <a:solidFill>
            <a:srgbClr val="7E3FD1"/>
          </a:solidFill>
          <a:ln/>
        </p:spPr>
      </p:sp>
      <p:sp>
        <p:nvSpPr>
          <p:cNvPr id="48" name="Text 46"/>
          <p:cNvSpPr/>
          <p:nvPr/>
        </p:nvSpPr>
        <p:spPr>
          <a:xfrm>
            <a:off x="749808" y="5596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417320" y="550468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&amp; Device Security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1417320" y="5815584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Endpoints, mobile, IoT, firmware, automotive &amp; hardware security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291072" y="5376672"/>
            <a:ext cx="5440680" cy="914400"/>
          </a:xfrm>
          <a:prstGeom prst="roundRect">
            <a:avLst>
              <a:gd name="adj" fmla="val 7000"/>
            </a:avLst>
          </a:prstGeom>
          <a:solidFill>
            <a:srgbClr val="0E3B36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492240" y="5596128"/>
            <a:ext cx="475488" cy="475488"/>
          </a:xfrm>
          <a:prstGeom prst="ellipse">
            <a:avLst/>
          </a:prstGeom>
          <a:solidFill>
            <a:srgbClr val="0E9488"/>
          </a:solidFill>
          <a:ln/>
        </p:spPr>
      </p:sp>
      <p:sp>
        <p:nvSpPr>
          <p:cNvPr id="53" name="Text 51"/>
          <p:cNvSpPr/>
          <p:nvPr/>
        </p:nvSpPr>
        <p:spPr>
          <a:xfrm>
            <a:off x="6492240" y="5596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159752" y="550468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Orchestration Security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7159752" y="5815584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9E8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AI-agent orchestration + autonomous agents performing security work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LANDSCAPE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AI-driven detection leads; agentic AI security is just emerging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Cybersecurity Patent Landscape  |  July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17320"/>
          <a:ext cx="7863840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686800" y="1600200"/>
            <a:ext cx="2971800" cy="4480560"/>
          </a:xfrm>
          <a:prstGeom prst="roundRect">
            <a:avLst>
              <a:gd name="adj" fmla="val 2769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915400" y="1828800"/>
            <a:ext cx="25603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Read-out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Threat &amp; Anomaly Detection is the largest category (118 patents, ~19% of the landscape).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&amp; GenAI Security is already #2 (74) despite barely existing before 2025.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Orchestration Security holds just 7 patents — a genuine white-space at the intersection of AI agents and security.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Microsoft, Cisco and Palo Alto Networks dominate filings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Cybersecurity Patent Landscape  |  July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63040"/>
          <a:ext cx="82296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9098280" y="1600200"/>
            <a:ext cx="2560320" cy="1325880"/>
          </a:xfrm>
          <a:prstGeom prst="roundRect">
            <a:avLst>
              <a:gd name="adj" fmla="val 620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326880" y="17099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326880" y="2167128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share of the relevant landscape (154 of 606)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9098280" y="3136392"/>
            <a:ext cx="2560320" cy="1325880"/>
          </a:xfrm>
          <a:prstGeom prst="roundRect">
            <a:avLst>
              <a:gd name="adj" fmla="val 620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326880" y="3246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9326880" y="3703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Assignees hold nearly two-thirds of all patents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9098280" y="4672584"/>
            <a:ext cx="2560320" cy="1325880"/>
          </a:xfrm>
          <a:prstGeom prst="roundRect">
            <a:avLst>
              <a:gd name="adj" fmla="val 620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326880" y="47823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9326880" y="523951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parent companies after subsidiary roll-up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× category — each leader attacks a different front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Cybersecurity Patent Landscape  |  July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371600"/>
          <a:ext cx="11064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94360" y="5806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skews to detection + SecOps automation; Palo Alto Networks concentrates on network security and malware defence; CyberArk and Google are the early movers on agentic AI security.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Publication volume has nearly quadrupled since 2023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Cybersecurity Patent Landscape  |  July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63040"/>
          <a:ext cx="74980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366760" y="1600200"/>
            <a:ext cx="3291840" cy="4297680"/>
          </a:xfrm>
          <a:prstGeom prst="roundRect">
            <a:avLst>
              <a:gd name="adj" fmla="val 250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595360" y="1828800"/>
            <a:ext cx="28803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is on pace to double 2025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237 relevant publications landed in H1 2026 alone — already exceeding full-year 2025 (222).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inflection begins in 2025, coinciding with enterprise adoption of LLM-based security tooling.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2026 bar covers publications through 30 June only.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DYNAMICS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× year — LLM security appears from nowhere in 2025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Cybersecurity Patent Landscape  |  July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371600"/>
          <a:ext cx="72237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092440" y="1600200"/>
            <a:ext cx="3566160" cy="4297680"/>
          </a:xfrm>
          <a:prstGeom prst="roundRect">
            <a:avLst>
              <a:gd name="adj" fmla="val 2308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321040" y="1828800"/>
            <a:ext cx="31546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movers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&amp; GenAI Security: 0 → 1 → 34 → 38. The single fastest-growing category in the landscape.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Traffic Security accelerates in 2026 (26 in H1 vs 15 in all of 2025).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Orchestration Security first appears in 2025 (4) and continues in 2026 (3) — brand-new territory.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 RACE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× year — the leaders keep accelerating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Cybersecurity Patent Landscape  |  July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417320"/>
          <a:ext cx="110642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9436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trajectory is the steepest (13 → 22 → 53 → 66); Palo Alto Networks' H1 2026 output (58) already exceeds its full-year 2025 total (38). 2026 values cover H1 only.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0058400" y="-1645920"/>
            <a:ext cx="4389120" cy="4389120"/>
          </a:xfrm>
          <a:prstGeom prst="ellipse">
            <a:avLst/>
          </a:prstGeom>
          <a:solidFill>
            <a:srgbClr val="2A387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 CATEGORY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74980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Orchestration Security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7 of 606 patents (1.2%) sit at the intersection of AI-agent orchestration and cybersecurity — the least crowded, most strategically loaded corner of this landscape. Two invention patterns are visible: securing agentic AI systems themselves (CyberArk, Samsung), and deploying autonomous agents to do security work (Microsoft, Google, CrowdStrike).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US12670274  </a:t>
            </a:r>
            <a:pPr indent="0" marL="0">
              <a:buNone/>
            </a:pPr>
            <a:r>
              <a:rPr lang="en-US" sz="950" dirty="0">
                <a:solidFill>
                  <a:srgbClr val="8F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CyberArk · 2026  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securing operations in agentic AI models — authorization gate inside the orchestration layer that vets every action an autonomous component attempts.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30815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WO2026096020A1  </a:t>
            </a:r>
            <a:pPr indent="0" marL="0">
              <a:buNone/>
            </a:pPr>
            <a:r>
              <a:rPr lang="en-US" sz="950" dirty="0">
                <a:solidFill>
                  <a:srgbClr val="8F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· 2026  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threat investigation — an LLM-driven agent that plans and executes multi-step investigations of security threats on its own.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364845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US12609960  </a:t>
            </a:r>
            <a:pPr indent="0" marL="0">
              <a:buNone/>
            </a:pPr>
            <a:r>
              <a:rPr lang="en-US" sz="950" dirty="0">
                <a:solidFill>
                  <a:srgbClr val="8F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· 2026  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maliciousness analysis using autonomous AI agents — chained agents select evidence and produce a maliciousness verdict for an entity.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421538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US12476979  </a:t>
            </a:r>
            <a:pPr indent="0" marL="0">
              <a:buNone/>
            </a:pPr>
            <a:r>
              <a:rPr lang="en-US" sz="950" dirty="0">
                <a:solidFill>
                  <a:srgbClr val="8F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· 2025  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Agentically-orchestrated foundation models for cloud security controls — agent teams assemble and validate security controls for cloud architectures.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478231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KR20250160818A  </a:t>
            </a:r>
            <a:pPr indent="0" marL="0">
              <a:buNone/>
            </a:pPr>
            <a:r>
              <a:rPr lang="en-US" sz="950" dirty="0">
                <a:solidFill>
                  <a:srgbClr val="8F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· 2025  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processing for multi-agent systems — vets each agent in an execution plan before a multi-agent workflow is allowed to run.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EP4614369A1  </a:t>
            </a:r>
            <a:pPr indent="0" marL="0">
              <a:buNone/>
            </a:pPr>
            <a:r>
              <a:rPr lang="en-US" sz="950" dirty="0">
                <a:solidFill>
                  <a:srgbClr val="8F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· 2025  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threat protection engine — self-driving security configuration management inside a security management system.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59161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US20250139251  </a:t>
            </a:r>
            <a:pPr indent="0" marL="0">
              <a:buNone/>
            </a:pPr>
            <a:r>
              <a:rPr lang="en-US" sz="950" dirty="0">
                <a:solidFill>
                  <a:srgbClr val="8F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 · 2025  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code analysis copilot — AI copilot that confirms vulnerabilities in source code and proposes corrected code.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 PATENTS · 1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Foundational patents — the most-cited assets in the 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Cybersecurity Patent Landscape  |  July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citations signal which inventions competitors must engineer around.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192024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178308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US11783062  —  </a:t>
            </a:r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access to computing environment secrets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325880" y="208483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Attaches risk metadata to passwords, tokens and certificates so access decisions weigh each secret's protections, reach and blast radius — the most-cited patent in the landscape.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9921240" y="1819656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· 2023</a:t>
            </a:r>
            <a:endParaRPr lang="en-US" sz="100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· 70 citations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660904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288950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2752344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US11704431  —  </a:t>
            </a:r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 classification sampling and labeling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325880" y="3054096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Iteratively samples stored files/blobs to produce statistically reliable estimates of where sensitive data lives, making data-security classification tractable at cloud scale.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9921240" y="27889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· 2023</a:t>
            </a:r>
            <a:endParaRPr lang="en-US" sz="100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SecOps · 66 citations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630168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85876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858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372160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US12088611  —  </a:t>
            </a:r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 ML model to detect beaconing communications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325880" y="4023360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labelled training sets from historical traffic to catch the periodic 'beacon' callbacks that malware uses to reach its command-and-control servers.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9921240" y="375818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(Splunk) · 2024</a:t>
            </a:r>
            <a:endParaRPr lang="en-US" sz="100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· 19 citations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599432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9808" y="4828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4828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25880" y="46908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US20240146747  —  </a:t>
            </a:r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Multi-cloud breach detection using ensemble classification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325880" y="4992624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 supervised classifier with deep anomaly detection over logged events so one security appliance can spot breaches consistently across different cloud providers.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9921240" y="472744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CrowdStrike · 2024</a:t>
            </a:r>
            <a:endParaRPr lang="en-US" sz="100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· 18 citations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5568696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9808" y="579729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749808" y="5797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325880" y="5660136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US11556640  —  </a:t>
            </a:r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cybersecurity analysis of extracted binary string sets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325880" y="5961888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strings from suspicious binaries and ranks them with an ML model trained on prior analyses — automating a core, previously manual step of malware triage.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9921240" y="569671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· 2023</a:t>
            </a:r>
            <a:endParaRPr lang="en-US" sz="100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· 17 citations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 PATENTS · 2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new frontline — securing (and using) generative AI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Cybersecurity Patent Landscape  |  July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74-patent LLM &amp; GenAI Security category barely existed before 2025. Five that define it: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192024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178308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US12665928  —  </a:t>
            </a:r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and mitigating injection of indirect instructions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325880" y="208483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content flowing into a trained model for hidden 'indirect' instructions — the prompt-injection attacks that hijack LLM applications through poisoned inputs.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9921240" y="1819656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CyberArk · 2026</a:t>
            </a:r>
            <a:endParaRPr lang="en-US" sz="100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660904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288950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2752344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US12639355  —  </a:t>
            </a:r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hallucinations in large language model output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325880" y="3054096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verification prompts that test whether an LLM's answer is actually derivable from its input data, flagging fabricated results before they reach the user.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9921240" y="27889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· 2026</a:t>
            </a:r>
            <a:endParaRPr lang="en-US" sz="100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trustworthiness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630168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85876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858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372160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US12670263  —  </a:t>
            </a:r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vulnerability remediation action descriptions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325880" y="4023360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large language model to turn raw vulnerability findings into clear, actionable remediation instructions for security teams.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9921240" y="375818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Networks · 2026</a:t>
            </a:r>
            <a:endParaRPr lang="en-US" sz="100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security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599432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9808" y="4828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4828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25880" y="46908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US20260181024  —  </a:t>
            </a:r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alert remediation using LLMs and graph structures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325880" y="4992624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related alerts into a graph and lets an LLM reason over it to propose one consolidated remediation, attacking the alert-fatigue problem in SOCs.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9921240" y="472744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 Networks · 2026</a:t>
            </a:r>
            <a:endParaRPr lang="en-US" sz="100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SecOps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5568696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9808" y="579729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749808" y="5797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325880" y="5660136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US12393687  —  </a:t>
            </a:r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for detecting command injection attacks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325880" y="5961888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command-injection attempts against applications and AI-mediated interfaces — an identity vendor extending its moat into AI-era injection defence.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9921240" y="569671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Okta · 2025</a:t>
            </a:r>
            <a:endParaRPr lang="en-US" sz="100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defence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 PATENTS · 3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patents worth reading for the ideas alone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Cybersecurity Patent Landscape  |  July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07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Hand-picked for inventive spark — each takes an unexpected angle on an old problem.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1920240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25880" y="178308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WO2026117288A1  —  </a:t>
            </a:r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Grand-scale unified AI-driven rapid disruption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325880" y="2084832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temporal attention model detects an attack in real time — then automatically disrupts it by disabling the entities involved. Not just detection: an AI that fights back.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9921240" y="1819656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· 2026</a:t>
            </a:r>
            <a:endParaRPr lang="en-US" sz="100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disruption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660904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9808" y="2889504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2752344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US20250039235  —  </a:t>
            </a:r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honeypot to mitigate social engineering attacks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325880" y="3054096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virtualized human personalities that impersonate targeted employees and string scammers along — a decoy workforce that wastes attackers' time and harvests intel.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9921240" y="27889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· 2025</a:t>
            </a:r>
            <a:endParaRPr lang="en-US" sz="100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Deception tech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630168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858768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858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372160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IN202411059440A  —  </a:t>
            </a:r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a scam interaction at a user device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325880" y="4023360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on-device models score live interactions (calls, messages) against scam scenarios to warn users mid-conversation — consumer-scale scam defence, filed in India.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9921240" y="3758184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· 2026</a:t>
            </a:r>
            <a:endParaRPr lang="en-US" sz="100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 · India filing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599432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9808" y="4828032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4828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25880" y="46908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US11620129  —  </a:t>
            </a:r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Agent-based detection of fuzzing activity on a target program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325880" y="4992624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an agent beside a target program to sense when someone is fuzzing it for vulnerabilities — detecting the attacker's research phase, before an exploit exists.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9921240" y="472744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CyberArk · 2023</a:t>
            </a:r>
            <a:endParaRPr lang="en-US" sz="100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Anti-recon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5568696"/>
            <a:ext cx="11064240" cy="859536"/>
          </a:xfrm>
          <a:prstGeom prst="roundRect">
            <a:avLst>
              <a:gd name="adj" fmla="val 744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9808" y="5797296"/>
            <a:ext cx="402336" cy="40233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749808" y="5797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325880" y="5660136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US12670274  —  </a:t>
            </a:r>
            <a:pPr indent="0" marL="0">
              <a:buNone/>
            </a:pPr>
            <a:r>
              <a:rPr lang="en-US" sz="115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securing operations in agentic AI models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325880" y="5961888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landscape's signature patent: a privilege broker for AI agents, deciding at runtime which operations an autonomous system may perform. Where IAM meets agentic AI.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9921240" y="5696712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CyberArk · 2026</a:t>
            </a:r>
            <a:endParaRPr lang="en-US" sz="1000" dirty="0"/>
          </a:p>
          <a:p>
            <a:pPr algn="r" indent="0" marL="0">
              <a:buNone/>
            </a:pPr>
            <a:r>
              <a:rPr lang="en-US" sz="85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security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and white-space opportunities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Cybersecurity Patent Landscape  |  July 2026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7373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is crowded, agents are open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57860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 patents in AI threat detection vs 7 in agentic AI orchestration security. Fresh claims on agent authorization, inter-agent trust and agent-action auditing still face little prior art.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91072" y="155448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65392" y="17373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565392" y="22402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security is a land-grab in progress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65392" y="257860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patents, ~99% published since Jan 2025. Prompt-injection defence and hallucination verification are being claimed now — filing windows in this category close fast.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41148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2960" y="461772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companies own the board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95604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(154), Cisco/Splunk (133) and Palo Alto Networks (102) hold 64% of the landscape; any freedom-to-operate analysis starts with these three portfolios.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91072" y="393192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F5F7FC"/>
          </a:solidFill>
          <a:ln/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65392" y="41148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565392" y="461772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is the direction of travel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65392" y="495604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autonomous investigation/protection filings and Google's agent-orchestrated controls point the same way: security products that act, not just alert.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828800"/>
            <a:ext cx="5120640" cy="5120640"/>
          </a:xfrm>
          <a:prstGeom prst="ellipse">
            <a:avLst/>
          </a:prstGeom>
          <a:solidFill>
            <a:srgbClr val="2A3878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4206240" cy="4206240"/>
          </a:xfrm>
          <a:prstGeom prst="ellipse">
            <a:avLst/>
          </a:prstGeom>
          <a:solidFill>
            <a:srgbClr val="2A387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&amp; Cybersecurity Patent Landscape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charts in this deck are native, editable PowerPoint charts — right-click any chart and choose “Edit Data” to update the underlying numbers. The companion Excel workbook contains the full classified patent list, the exclusion log, and formula-driven pivot tables that recalculate automatically.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47548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IPAgenticAIAndCyberSecurityPatents-20260702 · 1,034 records · Prepared July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&amp; Cybersecurity Patent Landscape</dc:title>
  <dc:subject>PptxGenJS Presentation</dc:subject>
  <dc:creator>IP Analysis</dc:creator>
  <cp:lastModifiedBy>IP Analysis</cp:lastModifiedBy>
  <cp:revision>1</cp:revision>
  <dcterms:created xsi:type="dcterms:W3CDTF">2026-07-03T03:34:56Z</dcterms:created>
  <dcterms:modified xsi:type="dcterms:W3CDTF">2026-07-03T03:34:56Z</dcterms:modified>
</cp:coreProperties>
</file>